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materials: Blueprint_FARO.docx; Solução Abord. Veicular.pptx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materials: Blueprint_FARO.docx; Solução Abord. Veicular.pptx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materials: Blueprint_FARO.docx; Solução Abord. Veicular.pptx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materials: Blueprint_FARO.docx; Solução Abord. Veicular.pptx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materials: Blueprint_FARO.docx; Solução Abord. Veicular.pptx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materials: Blueprint_FARO.docx; Solução Abord. Veicular.pptx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materials: Blueprint_FARO.docx; Solução Abord. Veicular.pptx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materials: Blueprint_FARO.docx; Solução Abord. Veicular.pptx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materials: Blueprint_FARO.docx; Solução Abord. Veicular.pptx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materials: Blueprint_FARO.docx; Solução Abord. Veicular.pptx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materials: Blueprint_FARO.docx; Solução Abord. Veicular.pptx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71323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F.A.R.O.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141732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B841"/>
                </a:solidFill>
              </a:rPr>
              <a:t>Ferramenta de Análise de Rotas e Observações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76656" y="1856232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AF0F7"/>
                </a:solidFill>
              </a:rPr>
              <a:t>Plataforma integrada de abordagem veicular, inteligência operacional e proteção do ativo.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B5C7"/>
                </a:solidFill>
              </a:rPr>
              <a:t>Síntese executiva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3063240"/>
            <a:ext cx="5349240" cy="1719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650" dirty="0">
                <a:solidFill>
                  <a:srgbClr val="EAF0F7"/>
                </a:solidFill>
              </a:rPr>
              <a:t>captura operacional com OCR assistido e mínimo atrito para o agente de campo
</a:t>
            </a:r>
            <a:pPr indent="0" marL="0">
              <a:buNone/>
            </a:pPr>
            <a:r>
              <a:rPr lang="en-US" sz="16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650" dirty="0">
                <a:solidFill>
                  <a:srgbClr val="EAF0F7"/>
                </a:solidFill>
              </a:rPr>
              <a:t>reanálise backend e módulo web da inteligência com correlação, rotas e feedback
</a:t>
            </a:r>
            <a:pPr indent="0" marL="0">
              <a:buNone/>
            </a:pPr>
            <a:r>
              <a:rPr lang="en-US" sz="16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650" dirty="0">
                <a:solidFill>
                  <a:srgbClr val="EAF0F7"/>
                </a:solidFill>
              </a:rPr>
              <a:t>metadados e governança voltados à proteção do ativo institucional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37960" y="658368"/>
            <a:ext cx="4983480" cy="5394960"/>
          </a:xfrm>
          <a:prstGeom prst="roundRect">
            <a:avLst>
              <a:gd name="adj" fmla="val 1468"/>
            </a:avLst>
          </a:prstGeom>
          <a:solidFill>
            <a:srgbClr val="16233B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31152" y="9144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Arquitetura em 3 componentes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31152" y="1353312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132640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50608" y="1572768"/>
            <a:ext cx="987552" cy="310896"/>
          </a:xfrm>
          <a:prstGeom prst="roundRect">
            <a:avLst>
              <a:gd name="adj" fmla="val 35294"/>
            </a:avLst>
          </a:prstGeom>
          <a:solidFill>
            <a:srgbClr val="4DD0E1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50608" y="1618488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625"/>
                </a:solidFill>
              </a:rPr>
              <a:t>APK MOBILE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11312" y="1508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7"/>
                </a:solidFill>
              </a:rPr>
              <a:t>Agente de Campo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AF0F7"/>
                </a:solidFill>
              </a:rPr>
              <a:t>OCR assistido • suspeição estruturada • offline-first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33104" y="2505456"/>
            <a:ext cx="292608" cy="201168"/>
          </a:xfrm>
          <a:prstGeom prst="rightArrow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31152" y="2743200"/>
            <a:ext cx="4160520" cy="1024128"/>
          </a:xfrm>
          <a:prstGeom prst="roundRect">
            <a:avLst>
              <a:gd name="adj" fmla="val 7143"/>
            </a:avLst>
          </a:prstGeom>
          <a:solidFill>
            <a:srgbClr val="17304D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50608" y="3026664"/>
            <a:ext cx="640080" cy="310896"/>
          </a:xfrm>
          <a:prstGeom prst="roundRect">
            <a:avLst>
              <a:gd name="adj" fmla="val 35294"/>
            </a:avLst>
          </a:prstGeom>
          <a:solidFill>
            <a:srgbClr val="7ED957"/>
          </a:solidFill>
          <a:ln w="12700">
            <a:solidFill>
              <a:srgbClr val="7ED9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0608" y="307238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625"/>
                </a:solidFill>
              </a:rPr>
              <a:t>WEB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11312" y="292608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7"/>
                </a:solidFill>
              </a:rPr>
              <a:t>Inteligência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AF0F7"/>
                </a:solidFill>
              </a:rPr>
              <a:t>triagem • reclassificação • rotas • feedback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833104" y="4078224"/>
            <a:ext cx="292608" cy="201168"/>
          </a:xfrm>
          <a:prstGeom prst="rightArrow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31152" y="4315968"/>
            <a:ext cx="4160520" cy="1078992"/>
          </a:xfrm>
          <a:prstGeom prst="roundRect">
            <a:avLst>
              <a:gd name="adj" fmla="val 6780"/>
            </a:avLst>
          </a:prstGeom>
          <a:solidFill>
            <a:srgbClr val="1B3A5B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50608" y="4617720"/>
            <a:ext cx="749808" cy="310896"/>
          </a:xfrm>
          <a:prstGeom prst="roundRect">
            <a:avLst>
              <a:gd name="adj" fmla="val 35294"/>
            </a:avLst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0608" y="466344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625"/>
                </a:solidFill>
              </a:rPr>
              <a:t>CORE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11312" y="452628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7"/>
                </a:solidFill>
              </a:rPr>
              <a:t>Server + DB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AF0F7"/>
                </a:solidFill>
              </a:rPr>
              <a:t>alertas • eventos • PostGIS • auditoria • metadados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875520" y="61996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5C7"/>
                </a:solidFill>
              </a:rPr>
              <a:t>Visão executiva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64556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5C7"/>
                </a:solidFill>
              </a:rPr>
              <a:t>F.A.R.O.  •  Ferramenta de Análise de Rotas e Observações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5C7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operacional e proposta de valor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46920" y="4937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B841"/>
                </a:solidFill>
              </a:rPr>
              <a:t>VISÃO DE NEGÓCIO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969264"/>
            <a:ext cx="11155680" cy="0"/>
          </a:xfrm>
          <a:prstGeom prst="line">
            <a:avLst/>
          </a:prstGeom>
          <a:noFill/>
          <a:ln w="12700">
            <a:solidFill>
              <a:srgbClr val="2740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261872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111B2E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5544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Gargalos do cenário atual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41832" y="1901952"/>
            <a:ext cx="4572000" cy="33375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EAF0F7"/>
                </a:solidFill>
              </a:rPr>
              <a:t>registros dispersos, pouco padronizados e sem retorno útil ao policial que lançou a informação
</a:t>
            </a:r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EAF0F7"/>
                </a:solidFill>
              </a:rPr>
              <a:t>consulta isolada de placa resolve só parte do problema e perde sinais fracos de suspeição
</a:t>
            </a:r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EAF0F7"/>
                </a:solidFill>
              </a:rPr>
              <a:t>sem devolutiva, a cultura de inteligência não se consolida e o uso do sistema se deteriora
</a:t>
            </a:r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EAF0F7"/>
                </a:solidFill>
              </a:rPr>
              <a:t>indicadores de volume bruto geram ruído e não traduzem proteção do ativo nem inteligência útil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261872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16233B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5544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Resposta do F.A.R.O.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73952" y="1901952"/>
            <a:ext cx="4572000" cy="33375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EAF0F7"/>
                </a:solidFill>
              </a:rPr>
              <a:t>captura operacional rápida, com OCR assistido, confirmação humana e contexto coletado automaticamente
</a:t>
            </a:r>
            <a:pPr indent="0" marL="0">
              <a:buNone/>
            </a:pPr>
            <a:r>
              <a:rPr lang="en-US" sz="160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EAF0F7"/>
                </a:solidFill>
              </a:rPr>
              <a:t>retorno instantâneo de sistema, com alertas, histórico relevante e orientação sintética de ação
</a:t>
            </a:r>
            <a:pPr indent="0" marL="0">
              <a:buNone/>
            </a:pPr>
            <a:r>
              <a:rPr lang="en-US" sz="160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EAF0F7"/>
                </a:solidFill>
              </a:rPr>
              <a:t>reanálise backend + inteligência web para confirmar, descartar ou monitorar suspeições
</a:t>
            </a:r>
            <a:pPr indent="0" marL="0">
              <a:buNone/>
            </a:pPr>
            <a:r>
              <a:rPr lang="en-US" sz="160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EAF0F7"/>
                </a:solidFill>
              </a:rPr>
              <a:t>análise de rotas, recorrência e metadados para gestão baseada em produtividade útil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60120" y="5422392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546811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Problema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92240" y="5422392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546811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Solução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64556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5C7"/>
                </a:solidFill>
              </a:rPr>
              <a:t>F.A.R.O.  •  Ferramenta de Análise de Rotas e Observações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5C7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Macroarquitetura da plataforma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46920" y="4937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B841"/>
                </a:solidFill>
              </a:rPr>
              <a:t>ARQUITETURA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969264"/>
            <a:ext cx="11155680" cy="0"/>
          </a:xfrm>
          <a:prstGeom prst="line">
            <a:avLst/>
          </a:prstGeom>
          <a:noFill/>
          <a:ln w="12700">
            <a:solidFill>
              <a:srgbClr val="2740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89888"/>
            <a:ext cx="3474720" cy="3794760"/>
          </a:xfrm>
          <a:prstGeom prst="roundRect">
            <a:avLst>
              <a:gd name="adj" fmla="val 2105"/>
            </a:avLst>
          </a:prstGeom>
          <a:solidFill>
            <a:srgbClr val="132640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70832" y="1389888"/>
            <a:ext cx="3474720" cy="3794760"/>
          </a:xfrm>
          <a:prstGeom prst="roundRect">
            <a:avLst>
              <a:gd name="adj" fmla="val 2105"/>
            </a:avLst>
          </a:prstGeom>
          <a:solidFill>
            <a:srgbClr val="17304D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0" y="1389888"/>
            <a:ext cx="3474720" cy="3794760"/>
          </a:xfrm>
          <a:prstGeom prst="roundRect">
            <a:avLst>
              <a:gd name="adj" fmla="val 2105"/>
            </a:avLst>
          </a:prstGeom>
          <a:solidFill>
            <a:srgbClr val="1B3A5B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1682496"/>
            <a:ext cx="384048" cy="310896"/>
          </a:xfrm>
          <a:prstGeom prst="roundRect">
            <a:avLst>
              <a:gd name="adj" fmla="val 35294"/>
            </a:avLst>
          </a:prstGeom>
          <a:solidFill>
            <a:srgbClr val="4DD0E1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7282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625"/>
                </a:solidFill>
              </a:rPr>
              <a:t>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426464" y="166420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APK do Agente de Campo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194560"/>
            <a:ext cx="2788920" cy="1828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EAF0F7"/>
                </a:solidFill>
              </a:rPr>
              <a:t>registro rápido em rua
</a:t>
            </a:r>
            <a:pPr indent="0" marL="0">
              <a:buNone/>
            </a:pPr>
            <a:r>
              <a:rPr lang="en-US" sz="15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EAF0F7"/>
                </a:solidFill>
              </a:rPr>
              <a:t>câmera + OCR assistido
</a:t>
            </a:r>
            <a:pPr indent="0" marL="0">
              <a:buNone/>
            </a:pPr>
            <a:r>
              <a:rPr lang="en-US" sz="15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EAF0F7"/>
                </a:solidFill>
              </a:rPr>
              <a:t>suspeição estruturada
</a:t>
            </a:r>
            <a:pPr indent="0" marL="0">
              <a:buNone/>
            </a:pPr>
            <a:r>
              <a:rPr lang="en-US" sz="15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EAF0F7"/>
                </a:solidFill>
              </a:rPr>
              <a:t>coleta automática de contexto
</a:t>
            </a:r>
            <a:pPr indent="0" marL="0">
              <a:buNone/>
            </a:pPr>
            <a:r>
              <a:rPr lang="en-US" sz="15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EAF0F7"/>
                </a:solidFill>
              </a:rPr>
              <a:t>offline-first e sincronização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60120" y="37947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D0E1"/>
                </a:solidFill>
              </a:rPr>
              <a:t>Saída principal: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40050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7"/>
                </a:solidFill>
              </a:rPr>
              <a:t>observação operacional estruturada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17720" y="1682496"/>
            <a:ext cx="384048" cy="310896"/>
          </a:xfrm>
          <a:prstGeom prst="roundRect">
            <a:avLst>
              <a:gd name="adj" fmla="val 35294"/>
            </a:avLst>
          </a:prstGeom>
          <a:solidFill>
            <a:srgbClr val="7ED957"/>
          </a:solidFill>
          <a:ln w="12700">
            <a:solidFill>
              <a:srgbClr val="7ED9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7282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625"/>
                </a:solidFill>
              </a:rPr>
              <a:t>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02352" y="166420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Módulo Web da Inteligência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45152" y="2194560"/>
            <a:ext cx="2788920" cy="1828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EAF0F7"/>
                </a:solidFill>
              </a:rPr>
              <a:t>fila analítica
</a:t>
            </a:r>
            <a:pPr indent="0" marL="0">
              <a:buNone/>
            </a:pPr>
            <a:r>
              <a:rPr lang="en-US" sz="15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EAF0F7"/>
                </a:solidFill>
              </a:rPr>
              <a:t>reclassificação e justificativa
</a:t>
            </a:r>
            <a:pPr indent="0" marL="0">
              <a:buNone/>
            </a:pPr>
            <a:r>
              <a:rPr lang="en-US" sz="15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EAF0F7"/>
                </a:solidFill>
              </a:rPr>
              <a:t>rotas, recorrência e mapa
</a:t>
            </a:r>
            <a:pPr indent="0" marL="0">
              <a:buNone/>
            </a:pPr>
            <a:r>
              <a:rPr lang="en-US" sz="15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EAF0F7"/>
                </a:solidFill>
              </a:rPr>
              <a:t>dashboards e metadados
</a:t>
            </a:r>
            <a:pPr indent="0" marL="0">
              <a:buNone/>
            </a:pPr>
            <a:r>
              <a:rPr lang="en-US" sz="15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EAF0F7"/>
                </a:solidFill>
              </a:rPr>
              <a:t>feedback ao agente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645152" y="37947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D957"/>
                </a:solidFill>
              </a:rPr>
              <a:t>Saída principal: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45152" y="400507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7"/>
                </a:solidFill>
              </a:rPr>
              <a:t>decisão analítica e retroalimentação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302752" y="1682496"/>
            <a:ext cx="384048" cy="310896"/>
          </a:xfrm>
          <a:prstGeom prst="roundRect">
            <a:avLst>
              <a:gd name="adj" fmla="val 35294"/>
            </a:avLst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02752" y="17282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625"/>
                </a:solidFill>
              </a:rPr>
              <a:t>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759952" y="166420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Server + Banco de Dados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02752" y="2194560"/>
            <a:ext cx="2788920" cy="1828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EAF0F7"/>
                </a:solidFill>
              </a:rPr>
              <a:t>APIs mobile e web
</a:t>
            </a:r>
            <a:pPr indent="0" marL="0">
              <a:buNone/>
            </a:pPr>
            <a:r>
              <a:rPr lang="en-US" sz="15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EAF0F7"/>
                </a:solidFill>
              </a:rPr>
              <a:t>eventos e filas internas
</a:t>
            </a:r>
            <a:pPr indent="0" marL="0">
              <a:buNone/>
            </a:pPr>
            <a:r>
              <a:rPr lang="en-US" sz="15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EAF0F7"/>
                </a:solidFill>
              </a:rPr>
              <a:t>alertas instantâneos
</a:t>
            </a:r>
            <a:pPr indent="0" marL="0">
              <a:buNone/>
            </a:pPr>
            <a:r>
              <a:rPr lang="en-US" sz="15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EAF0F7"/>
                </a:solidFill>
              </a:rPr>
              <a:t>PostGIS, storage e auditoria
</a:t>
            </a:r>
            <a:pPr indent="0" marL="0">
              <a:buNone/>
            </a:pPr>
            <a:r>
              <a:rPr lang="en-US" sz="15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EAF0F7"/>
                </a:solidFill>
              </a:rPr>
              <a:t>analytics e segurança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8302752" y="37947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841"/>
                </a:solidFill>
              </a:rPr>
              <a:t>Saída principal: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02752" y="400507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7"/>
                </a:solidFill>
              </a:rPr>
              <a:t>orquestração, correlação e proteção do dado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794760" y="4709160"/>
            <a:ext cx="384048" cy="201168"/>
          </a:xfrm>
          <a:prstGeom prst="rightArrow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79792" y="4709160"/>
            <a:ext cx="384048" cy="201168"/>
          </a:xfrm>
          <a:prstGeom prst="rightArrow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45920" y="54406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5B841"/>
                </a:solidFill>
              </a:rPr>
              <a:t>Fluxo institucional: Campo → Core → Inteligência → Core → Feedback ao Campo</a:t>
            </a:r>
            <a:endParaRPr lang="en-US" sz="1330" dirty="0"/>
          </a:p>
        </p:txBody>
      </p:sp>
      <p:sp>
        <p:nvSpPr>
          <p:cNvPr id="30" name="Text 28"/>
          <p:cNvSpPr/>
          <p:nvPr/>
        </p:nvSpPr>
        <p:spPr>
          <a:xfrm>
            <a:off x="502920" y="64556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5C7"/>
                </a:solidFill>
              </a:rPr>
              <a:t>F.A.R.O.  •  Ferramenta de Análise de Rotas e Observações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5C7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APK do Agente de Campo: usabilidade e fluxo operacional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46920" y="4937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B841"/>
                </a:solidFill>
              </a:rPr>
              <a:t>MOBILE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969264"/>
            <a:ext cx="11155680" cy="0"/>
          </a:xfrm>
          <a:prstGeom prst="line">
            <a:avLst/>
          </a:prstGeom>
          <a:noFill/>
          <a:ln w="12700">
            <a:solidFill>
              <a:srgbClr val="2740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3886200" cy="4983480"/>
          </a:xfrm>
          <a:prstGeom prst="roundRect">
            <a:avLst>
              <a:gd name="adj" fmla="val 1882"/>
            </a:avLst>
          </a:prstGeom>
          <a:solidFill>
            <a:srgbClr val="111B2E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6093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Princípios de usabilidade em campo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41832" y="1993392"/>
            <a:ext cx="3154680" cy="33832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EAF0F7"/>
                </a:solidFill>
              </a:rPr>
              <a:t>fluxo básico em menos de 10 segundos
</a:t>
            </a:r>
            <a:pPr indent="0" marL="0">
              <a:buNone/>
            </a:pPr>
            <a:r>
              <a:rPr lang="en-US" sz="152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EAF0F7"/>
                </a:solidFill>
              </a:rPr>
              <a:t>poucos toques, pouca digitação e botões grandes
</a:t>
            </a:r>
            <a:pPr indent="0" marL="0">
              <a:buNone/>
            </a:pPr>
            <a:r>
              <a:rPr lang="en-US" sz="152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EAF0F7"/>
                </a:solidFill>
              </a:rPr>
              <a:t>alta legibilidade sob sol, baixa luz e stress
</a:t>
            </a:r>
            <a:pPr indent="0" marL="0">
              <a:buNone/>
            </a:pPr>
            <a:r>
              <a:rPr lang="en-US" sz="152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EAF0F7"/>
                </a:solidFill>
              </a:rPr>
              <a:t>fila de sincronização clara para evitar falsa sensação de envio
</a:t>
            </a:r>
            <a:pPr indent="0" marL="0">
              <a:buNone/>
            </a:pPr>
            <a:r>
              <a:rPr lang="en-US" sz="152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EAF0F7"/>
                </a:solidFill>
              </a:rPr>
              <a:t>OCR como apoio: leitura sugerida, confirmação humana e imagem preservada</a:t>
            </a:r>
            <a:endParaRPr lang="en-US" sz="1520" dirty="0"/>
          </a:p>
        </p:txBody>
      </p:sp>
      <p:sp>
        <p:nvSpPr>
          <p:cNvPr id="9" name="Shape 7"/>
          <p:cNvSpPr/>
          <p:nvPr/>
        </p:nvSpPr>
        <p:spPr>
          <a:xfrm>
            <a:off x="4828032" y="1325880"/>
            <a:ext cx="6675120" cy="4983480"/>
          </a:xfrm>
          <a:prstGeom prst="roundRect">
            <a:avLst>
              <a:gd name="adj" fmla="val 1468"/>
            </a:avLst>
          </a:prstGeom>
          <a:solidFill>
            <a:srgbClr val="16233B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38928" y="16093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Fluxo mínimo funcional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230368" y="205740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0368" y="216712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625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33872" y="206654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Registrar veículo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833872" y="2267712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EAF0F7"/>
                </a:solidFill>
              </a:rPr>
              <a:t>home operacional com acesso imediato à captura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5394960" y="2660904"/>
            <a:ext cx="146304" cy="201168"/>
          </a:xfrm>
          <a:prstGeom prst="rightArrow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30368" y="2907792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0368" y="301752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625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33872" y="29169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Câmera / OCR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833872" y="3118104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EAF0F7"/>
                </a:solidFill>
              </a:rPr>
              <a:t>leitura sugerida, correção rápida e confirmação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5394960" y="3511296"/>
            <a:ext cx="146304" cy="201168"/>
          </a:xfrm>
          <a:prstGeom prst="rightArrow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30368" y="375818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0368" y="386791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625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33872" y="376732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Suspeição estruturada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833872" y="3968496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EAF0F7"/>
                </a:solidFill>
              </a:rPr>
              <a:t>motivo, grau, urgência e nota curta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5394960" y="4361688"/>
            <a:ext cx="146304" cy="201168"/>
          </a:xfrm>
          <a:prstGeom prst="rightArrow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30368" y="4608576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30368" y="471830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625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833872" y="46177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Retorno instantâneo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833872" y="4818888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EAF0F7"/>
                </a:solidFill>
              </a:rPr>
              <a:t>alerta, histórico útil e orientação sintética</a:t>
            </a:r>
            <a:endParaRPr lang="en-US" sz="1280" dirty="0"/>
          </a:p>
        </p:txBody>
      </p:sp>
      <p:sp>
        <p:nvSpPr>
          <p:cNvPr id="30" name="Shape 28"/>
          <p:cNvSpPr/>
          <p:nvPr/>
        </p:nvSpPr>
        <p:spPr>
          <a:xfrm>
            <a:off x="5394960" y="5212080"/>
            <a:ext cx="146304" cy="201168"/>
          </a:xfrm>
          <a:prstGeom prst="rightArrow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30368" y="5458968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5568696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625"/>
                </a:solidFill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833872" y="546811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Persistir / sincronizar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833872" y="5669280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EAF0F7"/>
                </a:solidFill>
              </a:rPr>
              <a:t>offline-first com fila idempotente de envio</a:t>
            </a:r>
            <a:endParaRPr lang="en-US" sz="1280" dirty="0"/>
          </a:p>
        </p:txBody>
      </p:sp>
      <p:sp>
        <p:nvSpPr>
          <p:cNvPr id="35" name="Shape 33"/>
          <p:cNvSpPr/>
          <p:nvPr/>
        </p:nvSpPr>
        <p:spPr>
          <a:xfrm>
            <a:off x="9326880" y="5285232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4DD0E1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26880" y="53309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625"/>
                </a:solidFill>
              </a:rPr>
              <a:t>Offline-first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0287000" y="5285232"/>
            <a:ext cx="1005840" cy="310896"/>
          </a:xfrm>
          <a:prstGeom prst="roundRect">
            <a:avLst>
              <a:gd name="adj" fmla="val 35294"/>
            </a:avLst>
          </a:prstGeom>
          <a:solidFill>
            <a:srgbClr val="7ED957"/>
          </a:solidFill>
          <a:ln w="12700">
            <a:solidFill>
              <a:srgbClr val="7ED9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87000" y="533095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625"/>
                </a:solidFill>
              </a:rPr>
              <a:t>Baixo atrito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2920" y="64556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5C7"/>
                </a:solidFill>
              </a:rPr>
              <a:t>F.A.R.O.  •  Ferramenta de Análise de Rotas e Observações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4712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5C7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Feedback instantâneo e ciclo da suspeição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46920" y="4937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B841"/>
                </a:solidFill>
              </a:rPr>
              <a:t>INTELIGÊNCIA OPERACIONAL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969264"/>
            <a:ext cx="11155680" cy="0"/>
          </a:xfrm>
          <a:prstGeom prst="line">
            <a:avLst/>
          </a:prstGeom>
          <a:noFill/>
          <a:ln w="12700">
            <a:solidFill>
              <a:srgbClr val="2740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10972800" cy="4983480"/>
          </a:xfrm>
          <a:prstGeom prst="roundRect">
            <a:avLst>
              <a:gd name="adj" fmla="val 1468"/>
            </a:avLst>
          </a:prstGeom>
          <a:solidFill>
            <a:srgbClr val="16233B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6093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Do registro em campo à decisão analítica auditável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87552" y="2331720"/>
            <a:ext cx="1737360" cy="2331720"/>
          </a:xfrm>
          <a:prstGeom prst="roundRect">
            <a:avLst>
              <a:gd name="adj" fmla="val 4211"/>
            </a:avLst>
          </a:prstGeom>
          <a:solidFill>
            <a:srgbClr val="111B2E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09344" y="2487168"/>
            <a:ext cx="502920" cy="502920"/>
          </a:xfrm>
          <a:prstGeom prst="ellipse">
            <a:avLst/>
          </a:prstGeom>
          <a:solidFill>
            <a:srgbClr val="4DD0E1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9344" y="263347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625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24712" y="307238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Observação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em campo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15568" y="3767328"/>
            <a:ext cx="148132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10" dirty="0">
                <a:solidFill>
                  <a:srgbClr val="EAF0F7"/>
                </a:solidFill>
              </a:rPr>
              <a:t>placa, contexto, imagem e suspeição estruturada</a:t>
            </a:r>
            <a:endParaRPr lang="en-US" sz="1110" dirty="0"/>
          </a:p>
        </p:txBody>
      </p:sp>
      <p:sp>
        <p:nvSpPr>
          <p:cNvPr id="13" name="Shape 11"/>
          <p:cNvSpPr/>
          <p:nvPr/>
        </p:nvSpPr>
        <p:spPr>
          <a:xfrm>
            <a:off x="2779776" y="3401568"/>
            <a:ext cx="182880" cy="201168"/>
          </a:xfrm>
          <a:prstGeom prst="rightArrow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45536" y="2331720"/>
            <a:ext cx="1737360" cy="2331720"/>
          </a:xfrm>
          <a:prstGeom prst="roundRect">
            <a:avLst>
              <a:gd name="adj" fmla="val 4211"/>
            </a:avLst>
          </a:prstGeom>
          <a:solidFill>
            <a:srgbClr val="204262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67328" y="2487168"/>
            <a:ext cx="502920" cy="50292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263347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625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82696" y="307238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Retorno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imediato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273552" y="3767328"/>
            <a:ext cx="148132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10" dirty="0">
                <a:solidFill>
                  <a:srgbClr val="EAF0F7"/>
                </a:solidFill>
              </a:rPr>
              <a:t>alerta, histórico relevante e pendência de sync</a:t>
            </a:r>
            <a:endParaRPr lang="en-US" sz="1110" dirty="0"/>
          </a:p>
        </p:txBody>
      </p:sp>
      <p:sp>
        <p:nvSpPr>
          <p:cNvPr id="19" name="Shape 17"/>
          <p:cNvSpPr/>
          <p:nvPr/>
        </p:nvSpPr>
        <p:spPr>
          <a:xfrm>
            <a:off x="4937760" y="3401568"/>
            <a:ext cx="182880" cy="201168"/>
          </a:xfrm>
          <a:prstGeom prst="rightArrow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0" y="2331720"/>
            <a:ext cx="1737360" cy="2331720"/>
          </a:xfrm>
          <a:prstGeom prst="roundRect">
            <a:avLst>
              <a:gd name="adj" fmla="val 4211"/>
            </a:avLst>
          </a:prstGeom>
          <a:solidFill>
            <a:srgbClr val="111B2E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25312" y="2487168"/>
            <a:ext cx="502920" cy="502920"/>
          </a:xfrm>
          <a:prstGeom prst="ellipse">
            <a:avLst/>
          </a:prstGeom>
          <a:solidFill>
            <a:srgbClr val="4DD0E1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25312" y="263347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625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307238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Fila de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eventos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431536" y="3767328"/>
            <a:ext cx="148132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10" dirty="0">
                <a:solidFill>
                  <a:srgbClr val="EAF0F7"/>
                </a:solidFill>
              </a:rPr>
              <a:t>correlação temporal, espacial e por regras de negócio</a:t>
            </a:r>
            <a:endParaRPr lang="en-US" sz="1110" dirty="0"/>
          </a:p>
        </p:txBody>
      </p:sp>
      <p:sp>
        <p:nvSpPr>
          <p:cNvPr id="25" name="Shape 23"/>
          <p:cNvSpPr/>
          <p:nvPr/>
        </p:nvSpPr>
        <p:spPr>
          <a:xfrm>
            <a:off x="7095744" y="3401568"/>
            <a:ext cx="182880" cy="201168"/>
          </a:xfrm>
          <a:prstGeom prst="rightArrow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61504" y="2331720"/>
            <a:ext cx="1737360" cy="2331720"/>
          </a:xfrm>
          <a:prstGeom prst="roundRect">
            <a:avLst>
              <a:gd name="adj" fmla="val 4211"/>
            </a:avLst>
          </a:prstGeom>
          <a:solidFill>
            <a:srgbClr val="111B2E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83296" y="2487168"/>
            <a:ext cx="502920" cy="502920"/>
          </a:xfrm>
          <a:prstGeom prst="ellipse">
            <a:avLst/>
          </a:prstGeom>
          <a:solidFill>
            <a:srgbClr val="4DD0E1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83296" y="263347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625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598664" y="307238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Reanálise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da inteligência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589520" y="3767328"/>
            <a:ext cx="148132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10" dirty="0">
                <a:solidFill>
                  <a:srgbClr val="EAF0F7"/>
                </a:solidFill>
              </a:rPr>
              <a:t>confirmada, descartada ou monitorada com justificativa</a:t>
            </a:r>
            <a:endParaRPr lang="en-US" sz="1110" dirty="0"/>
          </a:p>
        </p:txBody>
      </p:sp>
      <p:sp>
        <p:nvSpPr>
          <p:cNvPr id="31" name="Shape 29"/>
          <p:cNvSpPr/>
          <p:nvPr/>
        </p:nvSpPr>
        <p:spPr>
          <a:xfrm>
            <a:off x="9253728" y="3401568"/>
            <a:ext cx="182880" cy="201168"/>
          </a:xfrm>
          <a:prstGeom prst="rightArrow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19488" y="2331720"/>
            <a:ext cx="1737360" cy="2331720"/>
          </a:xfrm>
          <a:prstGeom prst="roundRect">
            <a:avLst>
              <a:gd name="adj" fmla="val 4211"/>
            </a:avLst>
          </a:prstGeom>
          <a:solidFill>
            <a:srgbClr val="111B2E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241280" y="2487168"/>
            <a:ext cx="502920" cy="502920"/>
          </a:xfrm>
          <a:prstGeom prst="ellipse">
            <a:avLst/>
          </a:prstGeom>
          <a:solidFill>
            <a:srgbClr val="4DD0E1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41280" y="263347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625"/>
                </a:solidFill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756648" y="307238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Feedback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ao agente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9747504" y="3767328"/>
            <a:ext cx="148132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10" dirty="0">
                <a:solidFill>
                  <a:srgbClr val="EAF0F7"/>
                </a:solidFill>
              </a:rPr>
              <a:t>devolutiva útil: ocorrência, descarte ou orientação futura</a:t>
            </a:r>
            <a:endParaRPr lang="en-US" sz="1110" dirty="0"/>
          </a:p>
        </p:txBody>
      </p:sp>
      <p:sp>
        <p:nvSpPr>
          <p:cNvPr id="37" name="Text 35"/>
          <p:cNvSpPr/>
          <p:nvPr/>
        </p:nvSpPr>
        <p:spPr>
          <a:xfrm>
            <a:off x="960120" y="5166360"/>
            <a:ext cx="10149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B841"/>
                </a:solidFill>
              </a:rPr>
              <a:t>O ponto crítico do desenho é a devolutiva. Sem retorno útil, a cultura de inteligência enfraquece; com feedback qualificado, o sistema passa a proteger o ativo e melhorar a decisão na ponta.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02920" y="64556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5C7"/>
                </a:solidFill>
              </a:rPr>
              <a:t>F.A.R.O.  •  Ferramenta de Análise de Rotas e Observações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4712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5C7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Módulo web da Inteligência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46920" y="4937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B841"/>
                </a:solidFill>
              </a:rPr>
              <a:t>WEB CONSOLE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969264"/>
            <a:ext cx="11155680" cy="0"/>
          </a:xfrm>
          <a:prstGeom prst="line">
            <a:avLst/>
          </a:prstGeom>
          <a:noFill/>
          <a:ln w="12700">
            <a:solidFill>
              <a:srgbClr val="2740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10972800" cy="4983480"/>
          </a:xfrm>
          <a:prstGeom prst="roundRect">
            <a:avLst>
              <a:gd name="adj" fmla="val 1468"/>
            </a:avLst>
          </a:prstGeom>
          <a:solidFill>
            <a:srgbClr val="111B2E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1700784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16233B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24712" y="186537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Fila analítica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06424" y="2176272"/>
            <a:ext cx="1828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0F7"/>
                </a:solidFill>
              </a:rPr>
              <a:t>filtrar, abrir, priorizar e reduzir ruído operacional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840480" y="1700784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16233B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005072" y="186537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Detalhe do registro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86784" y="2176272"/>
            <a:ext cx="1828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0F7"/>
                </a:solidFill>
              </a:rPr>
              <a:t>imagem, OCR, metadados, mapa e histórico correlato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720840" y="1700784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16233B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85432" y="186537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Rotas e recorrência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67144" y="2176272"/>
            <a:ext cx="1828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0F7"/>
                </a:solidFill>
              </a:rPr>
              <a:t>padrões fracos e fortes, timeline e corredor viário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464040" y="1700784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16233B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28632" y="186537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Dashboards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10344" y="2176272"/>
            <a:ext cx="1828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0F7"/>
                </a:solidFill>
              </a:rPr>
              <a:t>qualidade do dado, produtividade útil e visão gerencial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423160" y="406908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17304D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87752" y="42336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Reanálise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569464" y="4544568"/>
            <a:ext cx="1828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0F7"/>
                </a:solidFill>
              </a:rPr>
              <a:t>confirmar, descartar ou monitorar com justificativa auditável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92240" y="406908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17304D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656832" y="42336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Feedback ao campo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38544" y="4544568"/>
            <a:ext cx="1828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0F7"/>
                </a:solidFill>
              </a:rPr>
              <a:t>fechar o ciclo institucional e aumentar engajamento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60120" y="5623560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B841"/>
                </a:solidFill>
              </a:rPr>
              <a:t>Princípio: o módulo web não é um admin genérico; ele é um console analítico para decisão, priorização, correlação, rotas e devolutiva ao campo.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2920" y="64556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5C7"/>
                </a:solidFill>
              </a:rPr>
              <a:t>F.A.R.O.  •  Ferramenta de Análise de Rotas e Observações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5C7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Server, dados e processamento assíncrono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46920" y="4937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B841"/>
                </a:solidFill>
              </a:rPr>
              <a:t>CORE ANALÍTICO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969264"/>
            <a:ext cx="11155680" cy="0"/>
          </a:xfrm>
          <a:prstGeom prst="line">
            <a:avLst/>
          </a:prstGeom>
          <a:noFill/>
          <a:ln w="12700">
            <a:solidFill>
              <a:srgbClr val="2740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10972800" cy="4983480"/>
          </a:xfrm>
          <a:prstGeom prst="roundRect">
            <a:avLst>
              <a:gd name="adj" fmla="val 1468"/>
            </a:avLst>
          </a:prstGeom>
          <a:solidFill>
            <a:srgbClr val="16233B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828800"/>
            <a:ext cx="1920240" cy="3383280"/>
          </a:xfrm>
          <a:prstGeom prst="roundRect">
            <a:avLst>
              <a:gd name="adj" fmla="val 3810"/>
            </a:avLst>
          </a:prstGeom>
          <a:solidFill>
            <a:srgbClr val="132640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17320" y="20299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Entradas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5568" y="2487168"/>
            <a:ext cx="1508760" cy="1920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EAF0F7"/>
                </a:solidFill>
              </a:rPr>
              <a:t>app mobile
</a:t>
            </a:r>
            <a:pPr indent="0" marL="0">
              <a:buNone/>
            </a:pPr>
            <a:r>
              <a:rPr lang="en-US" sz="13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EAF0F7"/>
                </a:solidFill>
              </a:rPr>
              <a:t>módulo web
</a:t>
            </a:r>
            <a:pPr indent="0" marL="0">
              <a:buNone/>
            </a:pPr>
            <a:r>
              <a:rPr lang="en-US" sz="13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EAF0F7"/>
                </a:solidFill>
              </a:rPr>
              <a:t>uploads de imagem
</a:t>
            </a:r>
            <a:pPr indent="0" marL="0">
              <a:buNone/>
            </a:pPr>
            <a:r>
              <a:rPr lang="en-US" sz="13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EAF0F7"/>
                </a:solidFill>
              </a:rPr>
              <a:t>consultas externas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154680" y="1691640"/>
            <a:ext cx="2880360" cy="3703320"/>
          </a:xfrm>
          <a:prstGeom prst="roundRect">
            <a:avLst>
              <a:gd name="adj" fmla="val 2540"/>
            </a:avLst>
          </a:prstGeom>
          <a:solidFill>
            <a:srgbClr val="17304D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56432" y="19385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FastAPI + domínios internos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01568" y="2560320"/>
            <a:ext cx="23774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EAF0F7"/>
                </a:solidFill>
              </a:rPr>
              <a:t>auth • observations • alerts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dirty="0">
                <a:solidFill>
                  <a:srgbClr val="EAF0F7"/>
                </a:solidFill>
              </a:rPr>
              <a:t>intelligence_reviews • route_analysis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dirty="0">
                <a:solidFill>
                  <a:srgbClr val="EAF0F7"/>
                </a:solidFill>
              </a:rPr>
              <a:t>feedback • integrations • analytics • audit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749040" y="4160520"/>
            <a:ext cx="1691640" cy="310896"/>
          </a:xfrm>
          <a:prstGeom prst="roundRect">
            <a:avLst>
              <a:gd name="adj" fmla="val 35294"/>
            </a:avLst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420624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625"/>
                </a:solidFill>
              </a:rPr>
              <a:t>API móvel + API web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871216" y="3145536"/>
            <a:ext cx="146304" cy="201168"/>
          </a:xfrm>
          <a:prstGeom prst="rightArrow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1691640"/>
            <a:ext cx="2148840" cy="3703320"/>
          </a:xfrm>
          <a:prstGeom prst="roundRect">
            <a:avLst>
              <a:gd name="adj" fmla="val 3404"/>
            </a:avLst>
          </a:prstGeom>
          <a:solidFill>
            <a:srgbClr val="1B3A5B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39128" y="21945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Redis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Streams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01968" y="2926080"/>
            <a:ext cx="16459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EAF0F7"/>
                </a:solidFill>
              </a:rPr>
              <a:t>eventos internos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dirty="0">
                <a:solidFill>
                  <a:srgbClr val="EAF0F7"/>
                </a:solidFill>
              </a:rPr>
              <a:t>processamento assíncrono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dirty="0">
                <a:solidFill>
                  <a:srgbClr val="EAF0F7"/>
                </a:solidFill>
              </a:rPr>
              <a:t>reanálise e correlação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6089904" y="3145536"/>
            <a:ext cx="146304" cy="201168"/>
          </a:xfrm>
          <a:prstGeom prst="rightArrow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69164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132640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098280" y="19933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PostgreSQL + PostGIS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52560" y="2423160"/>
            <a:ext cx="2057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40" dirty="0">
                <a:solidFill>
                  <a:srgbClr val="EAF0F7"/>
                </a:solidFill>
              </a:rPr>
              <a:t>transacional + geoespacial + índices de rota</a:t>
            </a:r>
            <a:endParaRPr lang="en-US" sz="1240" dirty="0"/>
          </a:p>
        </p:txBody>
      </p:sp>
      <p:sp>
        <p:nvSpPr>
          <p:cNvPr id="23" name="Shape 21"/>
          <p:cNvSpPr/>
          <p:nvPr/>
        </p:nvSpPr>
        <p:spPr>
          <a:xfrm>
            <a:off x="8823960" y="365760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7304D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098280" y="39502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Storage + Auditoria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34272" y="4370832"/>
            <a:ext cx="21031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EAF0F7"/>
                </a:solidFill>
              </a:rPr>
              <a:t>S3-compatible, assets, hash, trilha de acesso e metadados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8339328" y="2487168"/>
            <a:ext cx="164592" cy="201168"/>
          </a:xfrm>
          <a:prstGeom prst="rightArrow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39328" y="4407408"/>
            <a:ext cx="164592" cy="201168"/>
          </a:xfrm>
          <a:prstGeom prst="rightArrow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4556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5C7"/>
                </a:solidFill>
              </a:rPr>
              <a:t>F.A.R.O.  •  Ferramenta de Análise de Rotas e Observações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5C7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Análise de rotas e geração de alertas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46920" y="4937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B841"/>
                </a:solidFill>
              </a:rPr>
              <a:t>ANÁLISE ESPACIAL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969264"/>
            <a:ext cx="11155680" cy="0"/>
          </a:xfrm>
          <a:prstGeom prst="line">
            <a:avLst/>
          </a:prstGeom>
          <a:noFill/>
          <a:ln w="12700">
            <a:solidFill>
              <a:srgbClr val="2740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5212080" cy="4983480"/>
          </a:xfrm>
          <a:prstGeom prst="roundRect">
            <a:avLst>
              <a:gd name="adj" fmla="val 1468"/>
            </a:avLst>
          </a:prstGeom>
          <a:solidFill>
            <a:srgbClr val="111B2E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6093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Rotas e recorrência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1993392"/>
            <a:ext cx="4526280" cy="2834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EAF0F7"/>
                </a:solidFill>
              </a:rPr>
              <a:t>sequência temporal de passagens por placa
</a:t>
            </a:r>
            <a:pPr indent="0" marL="0">
              <a:buNone/>
            </a:pPr>
            <a:r>
              <a:rPr lang="en-US" sz="152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EAF0F7"/>
                </a:solidFill>
              </a:rPr>
              <a:t>recorrência por corredor viário, região e faixa horária
</a:t>
            </a:r>
            <a:pPr indent="0" marL="0">
              <a:buNone/>
            </a:pPr>
            <a:r>
              <a:rPr lang="en-US" sz="152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EAF0F7"/>
                </a:solidFill>
              </a:rPr>
              <a:t>direção predominante e janela de deslocamento
</a:t>
            </a:r>
            <a:pPr indent="0" marL="0">
              <a:buNone/>
            </a:pPr>
            <a:r>
              <a:rPr lang="en-US" sz="152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EAF0F7"/>
                </a:solidFill>
              </a:rPr>
              <a:t>separação entre padrão fraco e padrão forte para reduzir falso positivo
</a:t>
            </a:r>
            <a:pPr indent="0" marL="0">
              <a:buNone/>
            </a:pPr>
            <a:r>
              <a:rPr lang="en-US" sz="152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EAF0F7"/>
                </a:solidFill>
              </a:rPr>
              <a:t>base geoespacial para filtros, mapas e correlação futura</a:t>
            </a:r>
            <a:endParaRPr lang="en-US" sz="1520" dirty="0"/>
          </a:p>
        </p:txBody>
      </p:sp>
      <p:sp>
        <p:nvSpPr>
          <p:cNvPr id="9" name="Shape 7"/>
          <p:cNvSpPr/>
          <p:nvPr/>
        </p:nvSpPr>
        <p:spPr>
          <a:xfrm>
            <a:off x="6144768" y="1325880"/>
            <a:ext cx="5513832" cy="4983480"/>
          </a:xfrm>
          <a:prstGeom prst="roundRect">
            <a:avLst>
              <a:gd name="adj" fmla="val 1468"/>
            </a:avLst>
          </a:prstGeom>
          <a:solidFill>
            <a:srgbClr val="16233B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160934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Pipeline de alerta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46520" y="2331720"/>
            <a:ext cx="960120" cy="2194560"/>
          </a:xfrm>
          <a:prstGeom prst="roundRect">
            <a:avLst>
              <a:gd name="adj" fmla="val 7619"/>
            </a:avLst>
          </a:prstGeom>
          <a:solidFill>
            <a:srgbClr val="132640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01384" y="2560320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5B841"/>
                </a:solidFill>
              </a:rPr>
              <a:t>detectar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6501384" y="2907792"/>
            <a:ext cx="85039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EAF0F7"/>
                </a:solidFill>
              </a:rPr>
              <a:t>regra, histórico ou recorrência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7443216" y="3127248"/>
            <a:ext cx="164592" cy="201168"/>
          </a:xfrm>
          <a:prstGeom prst="rightArrow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2331720"/>
            <a:ext cx="960120" cy="2194560"/>
          </a:xfrm>
          <a:prstGeom prst="roundRect">
            <a:avLst>
              <a:gd name="adj" fmla="val 7619"/>
            </a:avLst>
          </a:prstGeom>
          <a:solidFill>
            <a:srgbClr val="17304D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81544" y="2560320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5B841"/>
                </a:solidFill>
              </a:rPr>
              <a:t>correlacionar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7781544" y="2907792"/>
            <a:ext cx="85039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EAF0F7"/>
                </a:solidFill>
              </a:rPr>
              <a:t>tempo, espaço, contexto e suspeição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8723376" y="3127248"/>
            <a:ext cx="164592" cy="201168"/>
          </a:xfrm>
          <a:prstGeom prst="rightArrow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06840" y="2331720"/>
            <a:ext cx="960120" cy="2194560"/>
          </a:xfrm>
          <a:prstGeom prst="roundRect">
            <a:avLst>
              <a:gd name="adj" fmla="val 7619"/>
            </a:avLst>
          </a:prstGeom>
          <a:solidFill>
            <a:srgbClr val="132640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061704" y="2560320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5B841"/>
                </a:solidFill>
              </a:rPr>
              <a:t>graduar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9061704" y="2907792"/>
            <a:ext cx="85039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EAF0F7"/>
                </a:solidFill>
              </a:rPr>
              <a:t>crítico, alto, moderado ou informativo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10003536" y="3127248"/>
            <a:ext cx="164592" cy="201168"/>
          </a:xfrm>
          <a:prstGeom prst="rightArrow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87000" y="2331720"/>
            <a:ext cx="960120" cy="2194560"/>
          </a:xfrm>
          <a:prstGeom prst="roundRect">
            <a:avLst>
              <a:gd name="adj" fmla="val 7619"/>
            </a:avLst>
          </a:prstGeom>
          <a:solidFill>
            <a:srgbClr val="17304D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341864" y="2560320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5B841"/>
                </a:solidFill>
              </a:rPr>
              <a:t>retroalimentar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10341864" y="2907792"/>
            <a:ext cx="85039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EAF0F7"/>
                </a:solidFill>
              </a:rPr>
              <a:t>sistema devolve alerta e inteligência fecha o ciclo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6492240" y="5029200"/>
            <a:ext cx="1234440" cy="310896"/>
          </a:xfrm>
          <a:prstGeom prst="roundRect">
            <a:avLst>
              <a:gd name="adj" fmla="val 35294"/>
            </a:avLst>
          </a:prstGeom>
          <a:solidFill>
            <a:srgbClr val="7ED957"/>
          </a:solidFill>
          <a:ln w="12700">
            <a:solidFill>
              <a:srgbClr val="7ED9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507492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625"/>
                </a:solidFill>
              </a:rPr>
              <a:t>Route intelligence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863840" y="5029200"/>
            <a:ext cx="1325880" cy="310896"/>
          </a:xfrm>
          <a:prstGeom prst="roundRect">
            <a:avLst>
              <a:gd name="adj" fmla="val 35294"/>
            </a:avLst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0" y="507492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625"/>
                </a:solidFill>
              </a:rPr>
              <a:t>Alertas graduados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326880" y="5029200"/>
            <a:ext cx="1371600" cy="310896"/>
          </a:xfrm>
          <a:prstGeom prst="roundRect">
            <a:avLst>
              <a:gd name="adj" fmla="val 35294"/>
            </a:avLst>
          </a:prstGeom>
          <a:solidFill>
            <a:srgbClr val="4DD0E1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0" y="50749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625"/>
                </a:solidFill>
              </a:rPr>
              <a:t>Proteção do ativo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" y="64556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5C7"/>
                </a:solidFill>
              </a:rPr>
              <a:t>F.A.R.O.  •  Ferramenta de Análise de Rotas e Observações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5C7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Metadados e inteligência de negócio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46920" y="4937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B841"/>
                </a:solidFill>
              </a:rPr>
              <a:t>GESTÃO QUALIFICADA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969264"/>
            <a:ext cx="11155680" cy="0"/>
          </a:xfrm>
          <a:prstGeom prst="line">
            <a:avLst/>
          </a:prstGeom>
          <a:noFill/>
          <a:ln w="12700">
            <a:solidFill>
              <a:srgbClr val="2740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10972800" cy="4983480"/>
          </a:xfrm>
          <a:prstGeom prst="roundRect">
            <a:avLst>
              <a:gd name="adj" fmla="val 1468"/>
            </a:avLst>
          </a:prstGeom>
          <a:solidFill>
            <a:srgbClr val="16233B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60934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Produtividade útil, não volume burro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057400"/>
            <a:ext cx="3337560" cy="987552"/>
          </a:xfrm>
          <a:prstGeom prst="roundRect">
            <a:avLst>
              <a:gd name="adj" fmla="val 7407"/>
            </a:avLst>
          </a:prstGeom>
          <a:solidFill>
            <a:srgbClr val="111B2E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78992" y="220370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Taxa de confirmação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78992" y="2478024"/>
            <a:ext cx="2743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EAF0F7"/>
                </a:solidFill>
              </a:rPr>
              <a:t>suspeições confirmadas / total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4480560" y="2057400"/>
            <a:ext cx="3337560" cy="987552"/>
          </a:xfrm>
          <a:prstGeom prst="roundRect">
            <a:avLst>
              <a:gd name="adj" fmla="val 7407"/>
            </a:avLst>
          </a:prstGeom>
          <a:solidFill>
            <a:srgbClr val="132640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45152" y="220370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Tempo até triagem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45152" y="2478024"/>
            <a:ext cx="2743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EAF0F7"/>
                </a:solidFill>
              </a:rPr>
              <a:t>da observação ao primeiro tratamento da inteligência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8046720" y="2057400"/>
            <a:ext cx="3337560" cy="987552"/>
          </a:xfrm>
          <a:prstGeom prst="roundRect">
            <a:avLst>
              <a:gd name="adj" fmla="val 7407"/>
            </a:avLst>
          </a:prstGeom>
          <a:solidFill>
            <a:srgbClr val="111B2E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11312" y="220370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Tempo até feedback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11312" y="2478024"/>
            <a:ext cx="2743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EAF0F7"/>
                </a:solidFill>
              </a:rPr>
              <a:t>da revisão ao retorno útil ao agente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914400" y="3319272"/>
            <a:ext cx="3337560" cy="987552"/>
          </a:xfrm>
          <a:prstGeom prst="roundRect">
            <a:avLst>
              <a:gd name="adj" fmla="val 7407"/>
            </a:avLst>
          </a:prstGeom>
          <a:solidFill>
            <a:srgbClr val="132640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78992" y="346557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Taxa de OCR corrigido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078992" y="3739896"/>
            <a:ext cx="2743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EAF0F7"/>
                </a:solidFill>
              </a:rPr>
              <a:t>qualidade do dado capturado em campo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4480560" y="3319272"/>
            <a:ext cx="3337560" cy="987552"/>
          </a:xfrm>
          <a:prstGeom prst="roundRect">
            <a:avLst>
              <a:gd name="adj" fmla="val 7407"/>
            </a:avLst>
          </a:prstGeom>
          <a:solidFill>
            <a:srgbClr val="111B2E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45152" y="346557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Uso offline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645152" y="3739896"/>
            <a:ext cx="2743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EAF0F7"/>
                </a:solidFill>
              </a:rPr>
              <a:t>resiliência operacional em ambiente degradado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8046720" y="3319272"/>
            <a:ext cx="3337560" cy="987552"/>
          </a:xfrm>
          <a:prstGeom prst="roundRect">
            <a:avLst>
              <a:gd name="adj" fmla="val 7407"/>
            </a:avLst>
          </a:prstGeom>
          <a:solidFill>
            <a:srgbClr val="132640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11312" y="346557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Recorrência por corredor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211312" y="3739896"/>
            <a:ext cx="2743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EAF0F7"/>
                </a:solidFill>
              </a:rPr>
              <a:t>densidade temporal e espacial relevante</a:t>
            </a:r>
            <a:endParaRPr lang="en-US" sz="1180" dirty="0"/>
          </a:p>
        </p:txBody>
      </p:sp>
      <p:sp>
        <p:nvSpPr>
          <p:cNvPr id="26" name="Text 24"/>
          <p:cNvSpPr/>
          <p:nvPr/>
        </p:nvSpPr>
        <p:spPr>
          <a:xfrm>
            <a:off x="914400" y="5349240"/>
            <a:ext cx="104698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80" i="1" dirty="0">
                <a:solidFill>
                  <a:srgbClr val="F5B841"/>
                </a:solidFill>
              </a:rPr>
              <a:t>Os metadados devem nascer no fluxo, e não ser exigidos do usuário. O policial informa o mínimo; o sistema coleta, correlaciona e transforma o restante em inteligência acionável e gestão mais honesta.</a:t>
            </a:r>
            <a:endParaRPr lang="en-US" sz="1380" dirty="0"/>
          </a:p>
        </p:txBody>
      </p:sp>
      <p:sp>
        <p:nvSpPr>
          <p:cNvPr id="27" name="Text 25"/>
          <p:cNvSpPr/>
          <p:nvPr/>
        </p:nvSpPr>
        <p:spPr>
          <a:xfrm>
            <a:off x="502920" y="64556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5C7"/>
                </a:solidFill>
              </a:rPr>
              <a:t>F.A.R.O.  •  Ferramenta de Análise de Rotas e Observações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5C7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Segurança, governança e proteção do ativo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46920" y="4937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B841"/>
                </a:solidFill>
              </a:rPr>
              <a:t>RISCOS E CONTROLES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969264"/>
            <a:ext cx="11155680" cy="0"/>
          </a:xfrm>
          <a:prstGeom prst="line">
            <a:avLst/>
          </a:prstGeom>
          <a:noFill/>
          <a:ln w="12700">
            <a:solidFill>
              <a:srgbClr val="2740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3429000" cy="4983480"/>
          </a:xfrm>
          <a:prstGeom prst="roundRect">
            <a:avLst>
              <a:gd name="adj" fmla="val 2133"/>
            </a:avLst>
          </a:prstGeom>
          <a:solidFill>
            <a:srgbClr val="111B2E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79976" y="1325880"/>
            <a:ext cx="3429000" cy="4983480"/>
          </a:xfrm>
          <a:prstGeom prst="roundRect">
            <a:avLst>
              <a:gd name="adj" fmla="val 2133"/>
            </a:avLst>
          </a:prstGeom>
          <a:solidFill>
            <a:srgbClr val="16233B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74152" y="1325880"/>
            <a:ext cx="3584448" cy="4983480"/>
          </a:xfrm>
          <a:prstGeom prst="roundRect">
            <a:avLst>
              <a:gd name="adj" fmla="val 2041"/>
            </a:avLst>
          </a:prstGeom>
          <a:solidFill>
            <a:srgbClr val="17304D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Controles de acesso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41832" y="1993392"/>
            <a:ext cx="2743200" cy="2560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450" dirty="0">
                <a:solidFill>
                  <a:srgbClr val="EAF0F7"/>
                </a:solidFill>
              </a:rPr>
              <a:t>RBAC por perfil
</a:t>
            </a:r>
            <a:pPr indent="0" marL="0">
              <a:buNone/>
            </a:pPr>
            <a:r>
              <a:rPr lang="en-US" sz="14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450" dirty="0">
                <a:solidFill>
                  <a:srgbClr val="EAF0F7"/>
                </a:solidFill>
              </a:rPr>
              <a:t>JWT / sessão segura
</a:t>
            </a:r>
            <a:pPr indent="0" marL="0">
              <a:buNone/>
            </a:pPr>
            <a:r>
              <a:rPr lang="en-US" sz="14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450" dirty="0">
                <a:solidFill>
                  <a:srgbClr val="EAF0F7"/>
                </a:solidFill>
              </a:rPr>
              <a:t>segregação entre campo, inteligência e gestão
</a:t>
            </a:r>
            <a:pPr indent="0" marL="0">
              <a:buNone/>
            </a:pPr>
            <a:r>
              <a:rPr lang="en-US" sz="14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450" dirty="0">
                <a:solidFill>
                  <a:srgbClr val="EAF0F7"/>
                </a:solidFill>
              </a:rPr>
              <a:t>controle de exportação e acesso a dado sensível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45152" y="16276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Auditoria e integridade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626864" y="1993392"/>
            <a:ext cx="2743200" cy="2560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450" dirty="0">
                <a:solidFill>
                  <a:srgbClr val="EAF0F7"/>
                </a:solidFill>
              </a:rPr>
              <a:t>trilha de ações críticas
</a:t>
            </a:r>
            <a:pPr indent="0" marL="0">
              <a:buNone/>
            </a:pPr>
            <a:r>
              <a:rPr lang="en-US" sz="14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450" dirty="0">
                <a:solidFill>
                  <a:srgbClr val="EAF0F7"/>
                </a:solidFill>
              </a:rPr>
              <a:t>hash de arquivos e assets
</a:t>
            </a:r>
            <a:pPr indent="0" marL="0">
              <a:buNone/>
            </a:pPr>
            <a:r>
              <a:rPr lang="en-US" sz="14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450" dirty="0">
                <a:solidFill>
                  <a:srgbClr val="EAF0F7"/>
                </a:solidFill>
              </a:rPr>
              <a:t>justificativa obrigatória para descarte ou confirmação
</a:t>
            </a:r>
            <a:pPr indent="0" marL="0">
              <a:buNone/>
            </a:pPr>
            <a:r>
              <a:rPr lang="en-US" sz="14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450" dirty="0">
                <a:solidFill>
                  <a:srgbClr val="EAF0F7"/>
                </a:solidFill>
              </a:rPr>
              <a:t>logs estruturados e rastreáveis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339328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Proteção do ativo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321040" y="1993392"/>
            <a:ext cx="2834640" cy="2560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450" dirty="0">
                <a:solidFill>
                  <a:srgbClr val="EAF0F7"/>
                </a:solidFill>
              </a:rPr>
              <a:t>antecipar risco por padrão e recorrência
</a:t>
            </a:r>
            <a:pPr indent="0" marL="0">
              <a:buNone/>
            </a:pPr>
            <a:r>
              <a:rPr lang="en-US" sz="14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450" dirty="0">
                <a:solidFill>
                  <a:srgbClr val="EAF0F7"/>
                </a:solidFill>
              </a:rPr>
              <a:t>qualificar a decisão do operador
</a:t>
            </a:r>
            <a:pPr indent="0" marL="0">
              <a:buNone/>
            </a:pPr>
            <a:r>
              <a:rPr lang="en-US" sz="14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450" dirty="0">
                <a:solidFill>
                  <a:srgbClr val="EAF0F7"/>
                </a:solidFill>
              </a:rPr>
              <a:t>reter conhecimento útil dentro da instituição
</a:t>
            </a:r>
            <a:pPr indent="0" marL="0">
              <a:buNone/>
            </a:pPr>
            <a:r>
              <a:rPr lang="en-US" sz="1450" b="1" dirty="0">
                <a:solidFill>
                  <a:srgbClr val="F5B841"/>
                </a:solidFill>
              </a:rPr>
              <a:t>• </a:t>
            </a:r>
            <a:pPr indent="0" marL="0">
              <a:buNone/>
            </a:pPr>
            <a:r>
              <a:rPr lang="en-US" sz="1450" dirty="0">
                <a:solidFill>
                  <a:srgbClr val="EAF0F7"/>
                </a:solidFill>
              </a:rPr>
              <a:t>aumentar previsibilidade e resposta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005840" y="5440680"/>
            <a:ext cx="1143000" cy="310896"/>
          </a:xfrm>
          <a:prstGeom prst="roundRect">
            <a:avLst>
              <a:gd name="adj" fmla="val 35294"/>
            </a:avLst>
          </a:prstGeom>
          <a:solidFill>
            <a:srgbClr val="4DD0E1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4864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625"/>
                </a:solidFill>
              </a:rPr>
              <a:t>Acesso restrito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81728" y="5440680"/>
            <a:ext cx="822960" cy="310896"/>
          </a:xfrm>
          <a:prstGeom prst="roundRect">
            <a:avLst>
              <a:gd name="adj" fmla="val 35294"/>
            </a:avLst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1728" y="54864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625"/>
                </a:solidFill>
              </a:rPr>
              <a:t>Auditável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366760" y="54406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7ED957"/>
          </a:solidFill>
          <a:ln w="12700">
            <a:solidFill>
              <a:srgbClr val="7ED9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548640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625"/>
                </a:solidFill>
              </a:rPr>
              <a:t>Proteção institucional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64556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5C7"/>
                </a:solidFill>
              </a:rPr>
              <a:t>F.A.R.O.  •  Ferramenta de Análise de Rotas e Observações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5C7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Direção de implantação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46920" y="4937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B841"/>
                </a:solidFill>
              </a:rPr>
              <a:t>MVP E EVOLUÇÃO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969264"/>
            <a:ext cx="11155680" cy="0"/>
          </a:xfrm>
          <a:prstGeom prst="line">
            <a:avLst/>
          </a:prstGeom>
          <a:noFill/>
          <a:ln w="12700">
            <a:solidFill>
              <a:srgbClr val="2740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10972800" cy="4983480"/>
          </a:xfrm>
          <a:prstGeom prst="roundRect">
            <a:avLst>
              <a:gd name="adj" fmla="val 1468"/>
            </a:avLst>
          </a:prstGeom>
          <a:solidFill>
            <a:srgbClr val="111B2E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6093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Fases recomendadas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05840" y="2240280"/>
            <a:ext cx="2011680" cy="2423160"/>
          </a:xfrm>
          <a:prstGeom prst="roundRect">
            <a:avLst>
              <a:gd name="adj" fmla="val 3636"/>
            </a:avLst>
          </a:prstGeom>
          <a:solidFill>
            <a:srgbClr val="16233B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773936" y="2468880"/>
            <a:ext cx="457200" cy="45720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73936" y="261518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625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52144" y="3063240"/>
            <a:ext cx="17190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MVP operacional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52144" y="3675888"/>
            <a:ext cx="1719072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EAF0F7"/>
                </a:solidFill>
              </a:rPr>
              <a:t>APK, captura, OCR assistido, sync offline e retorno imediato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3063240" y="3246120"/>
            <a:ext cx="201168" cy="201168"/>
          </a:xfrm>
          <a:prstGeom prst="rightArrow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2240280"/>
            <a:ext cx="2011680" cy="2423160"/>
          </a:xfrm>
          <a:prstGeom prst="roundRect">
            <a:avLst>
              <a:gd name="adj" fmla="val 3636"/>
            </a:avLst>
          </a:prstGeom>
          <a:solidFill>
            <a:srgbClr val="17304D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08576" y="2468880"/>
            <a:ext cx="457200" cy="45720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261518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625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86784" y="3063240"/>
            <a:ext cx="17190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Core analítico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86784" y="3675888"/>
            <a:ext cx="1719072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EAF0F7"/>
                </a:solidFill>
              </a:rPr>
              <a:t>APIs, eventos, PostGIS, alerts, storage e auditoria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5897880" y="3246120"/>
            <a:ext cx="201168" cy="201168"/>
          </a:xfrm>
          <a:prstGeom prst="rightArrow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2240280"/>
            <a:ext cx="2011680" cy="2423160"/>
          </a:xfrm>
          <a:prstGeom prst="roundRect">
            <a:avLst>
              <a:gd name="adj" fmla="val 3636"/>
            </a:avLst>
          </a:prstGeom>
          <a:solidFill>
            <a:srgbClr val="16233B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43216" y="2468880"/>
            <a:ext cx="457200" cy="45720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43216" y="261518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625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21424" y="3063240"/>
            <a:ext cx="17190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Inteligência web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21424" y="3675888"/>
            <a:ext cx="1719072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EAF0F7"/>
                </a:solidFill>
              </a:rPr>
              <a:t>fila analítica, mapa, reanálise, feedback e dashboards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8732520" y="3246120"/>
            <a:ext cx="201168" cy="201168"/>
          </a:xfrm>
          <a:prstGeom prst="rightArrow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0" y="2240280"/>
            <a:ext cx="2011680" cy="2423160"/>
          </a:xfrm>
          <a:prstGeom prst="roundRect">
            <a:avLst>
              <a:gd name="adj" fmla="val 3636"/>
            </a:avLst>
          </a:prstGeom>
          <a:solidFill>
            <a:srgbClr val="17304D"/>
          </a:solidFill>
          <a:ln w="12700">
            <a:solidFill>
              <a:srgbClr val="27405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277856" y="2468880"/>
            <a:ext cx="457200" cy="45720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77856" y="261518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625"/>
                </a:solidFill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56064" y="3063240"/>
            <a:ext cx="17190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Aprimoramento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656064" y="3675888"/>
            <a:ext cx="1719072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EAF0F7"/>
                </a:solidFill>
              </a:rPr>
              <a:t>regras de rota, BI avançado, integrações e hardening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914400" y="5440680"/>
            <a:ext cx="104241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5B841"/>
                </a:solidFill>
              </a:rPr>
              <a:t>Mensagem final: o valor do F.A.R.O. não está em “ler placas”; está em transformar observações em conhecimento, devolver valor ao operador e proteger o ativo com inteligência operacional contínua.</a:t>
            </a:r>
            <a:endParaRPr lang="en-US" sz="1430" dirty="0"/>
          </a:p>
        </p:txBody>
      </p:sp>
      <p:sp>
        <p:nvSpPr>
          <p:cNvPr id="32" name="Text 30"/>
          <p:cNvSpPr/>
          <p:nvPr/>
        </p:nvSpPr>
        <p:spPr>
          <a:xfrm>
            <a:off x="502920" y="645566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5C7"/>
                </a:solidFill>
              </a:rPr>
              <a:t>F.A.R.O.  •  Ferramenta de Análise de Rotas e Observações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5C7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F.A.R.O. – Apresentação Executiva</dc:title>
  <dc:subject>F.A.R.O. – Plataforma integrada de abordagem veicular, inteligência operacional e proteção do ativo</dc:subject>
  <dc:creator>OpenAI</dc:creator>
  <cp:lastModifiedBy>OpenAI</cp:lastModifiedBy>
  <cp:revision>1</cp:revision>
  <dcterms:created xsi:type="dcterms:W3CDTF">2026-04-11T00:55:40Z</dcterms:created>
  <dcterms:modified xsi:type="dcterms:W3CDTF">2026-04-11T00:55:40Z</dcterms:modified>
</cp:coreProperties>
</file>