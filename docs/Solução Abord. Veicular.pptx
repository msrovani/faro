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60DBD-BBA0-4D23-A5D6-AF732D32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20327-4C61-4EFE-9B55-FDF638B20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C6364-5BF0-4313-9B26-7E4DE0E4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61356D-80F1-4A9A-B0F0-927AEE2C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B0DC3D-F62B-4AF4-B9EB-3B2E8892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75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72AD7-51DE-4EDB-A77D-CBBE7FE6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3B38E5-D618-4793-9659-51884CCF0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00D56F-197B-4A3B-83C2-15AF10E9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1D97D1-25F6-4629-99CC-317B33C4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06A330-2893-47DF-A89E-71B19896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37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CF541-6B22-4B51-B1C9-31121E8D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641485-93F6-46B4-BB46-D6CE4C23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C52376-9337-4407-B008-92D541ED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7B3263-9C50-4423-B4C9-3CDDB767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4F1A2-EF73-49D2-828D-71A232CB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39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0D5DC-5997-4128-ABC7-940E58CD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AD8CE0-EE57-49F7-9924-9344B0739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DAE35F-6604-4C27-B609-62FE10424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28FA31-9C83-453F-8C93-3ED1D4E0A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AF4C0B-26C3-4458-A392-1647D00C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05B826-C7AE-4C56-9564-E9207ACE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57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F022B-1E01-4FB5-A013-4AC34CAE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DE21EE-1736-4352-AAC0-E0EE35BD4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DC27E2-687D-496B-8B64-B591EA09F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D73D2C-85B1-45D7-9FF8-42B608091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66BD81-8220-4602-9510-BEAEC49E4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99573D-1493-4CA6-B00E-72B773F4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BCE1CC-D852-4043-B73E-5DFD14F8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65E070-DAA3-43DA-8598-AB8A9B7B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579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34595-B1E2-4172-9BF1-15ED37EE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E8BF90-31A5-4689-94E1-EAC706EF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D400BF-CAB5-4FCD-A90B-1055BA65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A45F1D-54D9-4BAF-BAF1-366C4DD5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99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ACA551-528F-4A11-A069-DD33AB7C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B4A87E-62EE-4352-9421-E6F505616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9A36E4-5940-489B-9969-EBEE2398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55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B4909-F931-4829-A33B-7B898693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837055-BB10-49FD-ABD7-357FAC62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34FC78-4C5A-4A14-B222-E218011FA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F6B2BB-1A8D-4E59-86EE-1FF7AAFB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DCD6F5-763F-429C-8942-642E64CF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A24A98-5DB1-4CDF-A516-B75C98F8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54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6F961-9E1E-4ED5-83BB-77F6A303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212958-2D12-4F9E-9CC4-AB35E799D6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17A54F-6B19-4DC6-A460-383AE68B6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9BAAF9-EA72-4122-9F84-7613A228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1FCC8C-6773-423C-8547-D2CF1040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747C3C-814A-48D5-A216-C1D5A4BD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43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0B686-5B31-4979-B639-DFBB486C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1C3D3E-032F-4819-BE5D-B7E5B1DB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C92E0F-3CA0-454D-A298-6E103570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3A721E-D611-476F-A06C-629E4C70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088B8D-CF08-4688-BB8D-4B97D0A6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79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A66F34-8F45-4A2E-BF12-2836377AE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AE3E5C-4952-47B6-AA97-9346D4DAF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D532CC-64C3-48BE-BEE5-44E053018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04396-5AD6-4855-82C6-6171ED3E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5B6FD5-050F-4F95-8439-5B9A20B02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88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103EBE3-94BC-490B-8D48-F62A146F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93DFAA-B61B-4364-B83F-3E5DB2C36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A625E-3E30-4657-8AA3-375E98849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21496-4D61-4465-AFB6-D62367A1B293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8FF783-BAE7-4659-884D-F4920DF77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D8C881-0671-4EDB-A764-393FE7A77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8F6F-CF85-4A09-A2F7-3CFC030F36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24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733D5-D645-4C00-B302-6659E7F1CE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Solução</a:t>
            </a:r>
            <a:br>
              <a:rPr lang="pt-BR" dirty="0"/>
            </a:br>
            <a:r>
              <a:rPr lang="pt-BR" dirty="0"/>
              <a:t> Abordagem Veicular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58B752-D183-4B0D-A942-A5889EA85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72000"/>
            <a:ext cx="9144000" cy="6858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Sugestões de funcionalidades</a:t>
            </a:r>
          </a:p>
          <a:p>
            <a:r>
              <a:rPr lang="pt-BR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OCR/Inteligência</a:t>
            </a:r>
          </a:p>
        </p:txBody>
      </p:sp>
    </p:spTree>
    <p:extLst>
      <p:ext uri="{BB962C8B-B14F-4D97-AF65-F5344CB8AC3E}">
        <p14:creationId xmlns:p14="http://schemas.microsoft.com/office/powerpoint/2010/main" val="163875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45AEA-DF63-4139-ACC7-ABDBA22E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FUNCIONALIDADE “AGENTE DE CAMPO”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1EB4F-6A76-4002-939F-E0641A6DA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Uso do PM como “OCR humano”</a:t>
            </a:r>
          </a:p>
          <a:p>
            <a:r>
              <a:rPr lang="pt-BR" dirty="0"/>
              <a:t>Controle de produtividade</a:t>
            </a:r>
          </a:p>
          <a:p>
            <a:r>
              <a:rPr lang="pt-BR" dirty="0"/>
              <a:t>Informação sobre possível rota do veículo</a:t>
            </a:r>
          </a:p>
          <a:p>
            <a:r>
              <a:rPr lang="pt-BR" dirty="0"/>
              <a:t>Uso do “tirocínio” policial com a suspeição do veículo</a:t>
            </a:r>
          </a:p>
          <a:p>
            <a:r>
              <a:rPr lang="pt-BR" dirty="0"/>
              <a:t>Cultura de inteligência - colaboração/retorno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285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6EC1C-E887-4C9E-98C8-98492C62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USABILIDADE DO APP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8368FB-5B38-441A-AD36-49A2CDF22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coleta de dados não pode comprometer a facilidade de uso em dispositivos móveis</a:t>
            </a:r>
          </a:p>
          <a:p>
            <a:r>
              <a:rPr lang="pt-BR" dirty="0"/>
              <a:t>Pelo contrário, o agente fará poucas inserções e o APP/Celular coletará as demais</a:t>
            </a:r>
          </a:p>
          <a:p>
            <a:r>
              <a:rPr lang="pt-BR" dirty="0"/>
              <a:t>A possibilidade de gerar alertas em mensagens ou </a:t>
            </a:r>
            <a:r>
              <a:rPr lang="pt-BR" i="1" dirty="0"/>
              <a:t>feedback</a:t>
            </a:r>
            <a:r>
              <a:rPr lang="pt-BR" dirty="0"/>
              <a:t> de informes de inteligência</a:t>
            </a:r>
          </a:p>
          <a:p>
            <a:r>
              <a:rPr lang="pt-BR" dirty="0"/>
              <a:t>Conexão de retorno de consultas via webservice – placa/</a:t>
            </a:r>
            <a:r>
              <a:rPr lang="pt-BR" dirty="0" err="1"/>
              <a:t>cnh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809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39DA3-C0A0-425F-9755-A78B34A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INTERFACE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2758C6-2A4A-43D2-938A-D2F5C4DDB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086" y="1825625"/>
            <a:ext cx="7263714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Incluir botão para câmera</a:t>
            </a:r>
          </a:p>
          <a:p>
            <a:pPr lvl="1"/>
            <a:r>
              <a:rPr lang="pt-BR" dirty="0"/>
              <a:t>Captar imagem da placa e possibilitar OCR</a:t>
            </a:r>
          </a:p>
          <a:p>
            <a:pPr lvl="1"/>
            <a:r>
              <a:rPr lang="pt-BR" dirty="0"/>
              <a:t>Confirmar se a leitura foi correta – envia</a:t>
            </a:r>
          </a:p>
          <a:p>
            <a:pPr lvl="1"/>
            <a:r>
              <a:rPr lang="pt-BR" dirty="0"/>
              <a:t>Produz consulta dos dados – webservice (online)</a:t>
            </a:r>
          </a:p>
          <a:p>
            <a:pPr lvl="1"/>
            <a:r>
              <a:rPr lang="pt-BR" dirty="0"/>
              <a:t>Coleta data/hora e </a:t>
            </a:r>
            <a:r>
              <a:rPr lang="pt-BR" dirty="0" err="1"/>
              <a:t>lat</a:t>
            </a:r>
            <a:r>
              <a:rPr lang="pt-BR" dirty="0"/>
              <a:t>/</a:t>
            </a:r>
            <a:r>
              <a:rPr lang="pt-BR" dirty="0" err="1"/>
              <a:t>long</a:t>
            </a:r>
            <a:endParaRPr lang="pt-BR" dirty="0"/>
          </a:p>
          <a:p>
            <a:r>
              <a:rPr lang="pt-BR" dirty="0"/>
              <a:t>Incluir campo “Sentido” </a:t>
            </a:r>
          </a:p>
          <a:p>
            <a:pPr lvl="1"/>
            <a:r>
              <a:rPr lang="pt-BR" dirty="0"/>
              <a:t>+/-, </a:t>
            </a:r>
            <a:r>
              <a:rPr lang="pt-BR" dirty="0" err="1"/>
              <a:t>Asc</a:t>
            </a:r>
            <a:r>
              <a:rPr lang="pt-BR" dirty="0"/>
              <a:t>/</a:t>
            </a:r>
            <a:r>
              <a:rPr lang="pt-BR" dirty="0" err="1"/>
              <a:t>Desc</a:t>
            </a:r>
            <a:r>
              <a:rPr lang="pt-BR" dirty="0"/>
              <a:t> ou </a:t>
            </a:r>
            <a:r>
              <a:rPr lang="pt-BR" dirty="0" err="1"/>
              <a:t>Cres</a:t>
            </a:r>
            <a:r>
              <a:rPr lang="pt-BR" dirty="0"/>
              <a:t>/</a:t>
            </a:r>
            <a:r>
              <a:rPr lang="pt-BR" dirty="0" err="1"/>
              <a:t>Decr</a:t>
            </a:r>
            <a:endParaRPr lang="pt-BR" dirty="0"/>
          </a:p>
          <a:p>
            <a:r>
              <a:rPr lang="pt-BR" dirty="0"/>
              <a:t>Incluir opção “Inteligência”</a:t>
            </a:r>
          </a:p>
          <a:p>
            <a:pPr lvl="1"/>
            <a:r>
              <a:rPr lang="pt-BR" dirty="0"/>
              <a:t>Abre campo de texto para a suspeição</a:t>
            </a:r>
          </a:p>
          <a:p>
            <a:r>
              <a:rPr lang="pt-BR" dirty="0"/>
              <a:t>Id Funcional vinculada ao Celular - </a:t>
            </a:r>
            <a:r>
              <a:rPr lang="pt-BR" i="1" dirty="0"/>
              <a:t>feedback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A386C3-568D-4317-A54E-D3EDD52AC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7213"/>
            <a:ext cx="2264569" cy="5032375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B423213-4599-494E-B0D7-02C2F991F816}"/>
              </a:ext>
            </a:extLst>
          </p:cNvPr>
          <p:cNvCxnSpPr>
            <a:cxnSpLocks/>
          </p:cNvCxnSpPr>
          <p:nvPr/>
        </p:nvCxnSpPr>
        <p:spPr>
          <a:xfrm>
            <a:off x="2842054" y="2075935"/>
            <a:ext cx="114917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232C612-6346-4E58-925E-2A9F27396913}"/>
              </a:ext>
            </a:extLst>
          </p:cNvPr>
          <p:cNvCxnSpPr>
            <a:cxnSpLocks/>
          </p:cNvCxnSpPr>
          <p:nvPr/>
        </p:nvCxnSpPr>
        <p:spPr>
          <a:xfrm>
            <a:off x="1878227" y="4001294"/>
            <a:ext cx="2211859" cy="6641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DDB9903-74C9-4599-AE87-5A6DB651BAD0}"/>
              </a:ext>
            </a:extLst>
          </p:cNvPr>
          <p:cNvCxnSpPr>
            <a:cxnSpLocks/>
          </p:cNvCxnSpPr>
          <p:nvPr/>
        </p:nvCxnSpPr>
        <p:spPr>
          <a:xfrm>
            <a:off x="1970484" y="2461183"/>
            <a:ext cx="2020748" cy="13122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61F549E-5837-41A4-B79E-D8DE96212878}"/>
              </a:ext>
            </a:extLst>
          </p:cNvPr>
          <p:cNvCxnSpPr>
            <a:cxnSpLocks/>
          </p:cNvCxnSpPr>
          <p:nvPr/>
        </p:nvCxnSpPr>
        <p:spPr>
          <a:xfrm>
            <a:off x="2095693" y="4855509"/>
            <a:ext cx="1994393" cy="6061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79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D7AAE-40F2-4652-A0E3-A27880A9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DADOS COLETADOS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3CB373-6C07-4442-A9F7-5EADA57FD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Produtividade real</a:t>
            </a:r>
          </a:p>
          <a:p>
            <a:r>
              <a:rPr lang="pt-BR" dirty="0"/>
              <a:t>Horário de atuação</a:t>
            </a:r>
          </a:p>
          <a:p>
            <a:r>
              <a:rPr lang="pt-BR" dirty="0"/>
              <a:t>Controle da “lista de placas”</a:t>
            </a:r>
          </a:p>
          <a:p>
            <a:r>
              <a:rPr lang="pt-BR" dirty="0"/>
              <a:t>Se online e conectado via webservice, retorno imediato da situação do veículo</a:t>
            </a:r>
          </a:p>
          <a:p>
            <a:r>
              <a:rPr lang="pt-BR" dirty="0"/>
              <a:t>Alertas sistema – roubado, furtado, MBA, proprietário foragido, licenciamento, MP, CNH cassada, etc...</a:t>
            </a:r>
          </a:p>
          <a:p>
            <a:r>
              <a:rPr lang="pt-BR" dirty="0"/>
              <a:t>Análise de rotas</a:t>
            </a:r>
          </a:p>
        </p:txBody>
      </p:sp>
    </p:spTree>
    <p:extLst>
      <p:ext uri="{BB962C8B-B14F-4D97-AF65-F5344CB8AC3E}">
        <p14:creationId xmlns:p14="http://schemas.microsoft.com/office/powerpoint/2010/main" val="374055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D7AAE-40F2-4652-A0E3-A27880A9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INTELIGÊNCIA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3CB373-6C07-4442-A9F7-5EADA57FD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Agente de campo (AC) – fornece informações/informes, de maneira discreta e automática, sem intervenção do usuário ou de maneira colaborativa</a:t>
            </a:r>
          </a:p>
          <a:p>
            <a:r>
              <a:rPr lang="pt-BR" dirty="0"/>
              <a:t>Veículo suspeito (VS) -  alerta o AC sobre a necessidade de abordagem diferencial, com o </a:t>
            </a:r>
            <a:r>
              <a:rPr lang="pt-BR" u="sng" dirty="0"/>
              <a:t>grau de suspeição</a:t>
            </a:r>
          </a:p>
          <a:p>
            <a:r>
              <a:rPr lang="pt-BR" dirty="0"/>
              <a:t>Agências Locais de Inteligência (ALI) – efetua consultas e análise preliminar do informe, confirmando ou descartando a suspeição</a:t>
            </a:r>
          </a:p>
          <a:p>
            <a:r>
              <a:rPr lang="pt-BR" i="1" dirty="0"/>
              <a:t>Feedback</a:t>
            </a:r>
            <a:r>
              <a:rPr lang="pt-BR" dirty="0"/>
              <a:t> – consulta/retorno, após análise pela ALI e ao AC, bem como em caso do veiculo ser abordado/envolver-se em ocorrência; incentiva e qualifica a atuação, ampliando a “cultura de inteligência”</a:t>
            </a:r>
          </a:p>
          <a:p>
            <a:r>
              <a:rPr lang="pt-BR" dirty="0"/>
              <a:t>O sistema precisa ser “CLASSIFICADO” – Acesso Restrito</a:t>
            </a:r>
          </a:p>
        </p:txBody>
      </p:sp>
    </p:spTree>
    <p:extLst>
      <p:ext uri="{BB962C8B-B14F-4D97-AF65-F5344CB8AC3E}">
        <p14:creationId xmlns:p14="http://schemas.microsoft.com/office/powerpoint/2010/main" val="50169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43A8842-4EE7-4AD9-B6EF-E78341724A5A}"/>
              </a:ext>
            </a:extLst>
          </p:cNvPr>
          <p:cNvSpPr txBox="1"/>
          <p:nvPr/>
        </p:nvSpPr>
        <p:spPr>
          <a:xfrm>
            <a:off x="742745" y="2027949"/>
            <a:ext cx="77847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AC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EC4BE2D-F0F1-45F0-BF2D-71DB7BD8CE1F}"/>
              </a:ext>
            </a:extLst>
          </p:cNvPr>
          <p:cNvSpPr txBox="1"/>
          <p:nvPr/>
        </p:nvSpPr>
        <p:spPr>
          <a:xfrm>
            <a:off x="8915396" y="443921"/>
            <a:ext cx="2792627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“Veiculo suspeito de...”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883F11-D63D-4A80-8733-10605AEB18A1}"/>
              </a:ext>
            </a:extLst>
          </p:cNvPr>
          <p:cNvSpPr txBox="1"/>
          <p:nvPr/>
        </p:nvSpPr>
        <p:spPr>
          <a:xfrm>
            <a:off x="5366952" y="2139985"/>
            <a:ext cx="13221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ALI/ARI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B09D2F6-4419-45D0-8B2A-B5CCE0EC387A}"/>
              </a:ext>
            </a:extLst>
          </p:cNvPr>
          <p:cNvSpPr txBox="1"/>
          <p:nvPr/>
        </p:nvSpPr>
        <p:spPr>
          <a:xfrm>
            <a:off x="4823257" y="2988665"/>
            <a:ext cx="2409564" cy="20313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Consultas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Motorista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Proprietários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Passagens OCR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Rota</a:t>
            </a:r>
          </a:p>
          <a:p>
            <a:pPr marL="285750" indent="-285750">
              <a:buFontTx/>
              <a:buChar char="-"/>
            </a:pPr>
            <a:r>
              <a:rPr lang="pt-BR" dirty="0"/>
              <a:t>Re/ratifica dados AC</a:t>
            </a:r>
          </a:p>
          <a:p>
            <a:pPr marL="285750" indent="-285750">
              <a:buFontTx/>
              <a:buChar char="-"/>
            </a:pPr>
            <a:r>
              <a:rPr lang="pt-BR" dirty="0"/>
              <a:t>Analise / RELINT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06E96816-662C-48EB-8FF5-3F5514409132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1521221" y="2320337"/>
            <a:ext cx="3845731" cy="43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2BF39FC-A339-499E-AEC3-4417F6ED0903}"/>
              </a:ext>
            </a:extLst>
          </p:cNvPr>
          <p:cNvSpPr txBox="1"/>
          <p:nvPr/>
        </p:nvSpPr>
        <p:spPr>
          <a:xfrm>
            <a:off x="4652316" y="305422"/>
            <a:ext cx="1754659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- Abordagem</a:t>
            </a:r>
          </a:p>
          <a:p>
            <a:r>
              <a:rPr lang="pt-BR" dirty="0"/>
              <a:t>- Detectado OCR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1548A81-A5FA-41A3-85F0-B91790374BEA}"/>
              </a:ext>
            </a:extLst>
          </p:cNvPr>
          <p:cNvSpPr txBox="1"/>
          <p:nvPr/>
        </p:nvSpPr>
        <p:spPr>
          <a:xfrm>
            <a:off x="1880290" y="2989670"/>
            <a:ext cx="2322385" cy="20313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Insere informação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Confirmada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Em análise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Descartada</a:t>
            </a:r>
          </a:p>
          <a:p>
            <a:pPr marL="285750" indent="-285750">
              <a:buFontTx/>
              <a:buChar char="-"/>
            </a:pPr>
            <a:r>
              <a:rPr lang="pt-BR" dirty="0"/>
              <a:t>Cadastra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Alerta APP</a:t>
            </a:r>
          </a:p>
          <a:p>
            <a:pPr marL="742950" lvl="1" indent="-285750">
              <a:buFontTx/>
              <a:buChar char="-"/>
            </a:pPr>
            <a:r>
              <a:rPr lang="pt-BR" dirty="0"/>
              <a:t>OCR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D78202E-476F-4C3F-802A-AA0ED5FA926B}"/>
              </a:ext>
            </a:extLst>
          </p:cNvPr>
          <p:cNvSpPr txBox="1"/>
          <p:nvPr/>
        </p:nvSpPr>
        <p:spPr>
          <a:xfrm>
            <a:off x="9434379" y="3028907"/>
            <a:ext cx="1754659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Ocorrência</a:t>
            </a:r>
          </a:p>
          <a:p>
            <a:pPr marL="285750" indent="-285750">
              <a:buFontTx/>
              <a:buChar char="-"/>
            </a:pPr>
            <a:r>
              <a:rPr lang="pt-BR" dirty="0"/>
              <a:t>Prisão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95C007C3-DD10-4547-9716-123872EDC1AA}"/>
              </a:ext>
            </a:extLst>
          </p:cNvPr>
          <p:cNvSpPr txBox="1"/>
          <p:nvPr/>
        </p:nvSpPr>
        <p:spPr>
          <a:xfrm>
            <a:off x="3444086" y="5711482"/>
            <a:ext cx="4683210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i="1" dirty="0"/>
              <a:t>Feedback</a:t>
            </a:r>
            <a:endParaRPr lang="pt-BR" dirty="0"/>
          </a:p>
          <a:p>
            <a:r>
              <a:rPr lang="pt-BR" dirty="0"/>
              <a:t>“O cadastro de suspeição x, auxiliou na </a:t>
            </a:r>
            <a:r>
              <a:rPr lang="pt-BR" dirty="0" err="1"/>
              <a:t>Oc</a:t>
            </a:r>
            <a:r>
              <a:rPr lang="pt-BR" dirty="0"/>
              <a:t> y !”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B1054280-FA47-5110-9CA8-F73F80FD084B}"/>
              </a:ext>
            </a:extLst>
          </p:cNvPr>
          <p:cNvCxnSpPr>
            <a:stCxn id="5" idx="0"/>
            <a:endCxn id="24" idx="1"/>
          </p:cNvCxnSpPr>
          <p:nvPr/>
        </p:nvCxnSpPr>
        <p:spPr>
          <a:xfrm rot="5400000" flipH="1" flipV="1">
            <a:off x="2192469" y="-431897"/>
            <a:ext cx="1399361" cy="352033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D002C3AB-2557-DE72-79A1-FFE4FC23DF32}"/>
              </a:ext>
            </a:extLst>
          </p:cNvPr>
          <p:cNvCxnSpPr>
            <a:stCxn id="24" idx="3"/>
            <a:endCxn id="8" idx="1"/>
          </p:cNvCxnSpPr>
          <p:nvPr/>
        </p:nvCxnSpPr>
        <p:spPr>
          <a:xfrm flipV="1">
            <a:off x="6406975" y="628587"/>
            <a:ext cx="250842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56D8CCA4-2B6D-0B96-8558-7698802F5483}"/>
              </a:ext>
            </a:extLst>
          </p:cNvPr>
          <p:cNvCxnSpPr>
            <a:stCxn id="8" idx="2"/>
            <a:endCxn id="64" idx="0"/>
          </p:cNvCxnSpPr>
          <p:nvPr/>
        </p:nvCxnSpPr>
        <p:spPr>
          <a:xfrm flipH="1">
            <a:off x="10311709" y="813253"/>
            <a:ext cx="1" cy="22156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606AF37-011C-1C8F-D4FC-A4B5D1C2C778}"/>
              </a:ext>
            </a:extLst>
          </p:cNvPr>
          <p:cNvSpPr txBox="1"/>
          <p:nvPr/>
        </p:nvSpPr>
        <p:spPr>
          <a:xfrm>
            <a:off x="7424353" y="2005121"/>
            <a:ext cx="2458843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Somente suspeita</a:t>
            </a:r>
          </a:p>
          <a:p>
            <a:pPr marL="285750" indent="-285750">
              <a:buFontTx/>
              <a:buChar char="-"/>
            </a:pPr>
            <a:r>
              <a:rPr lang="pt-BR" dirty="0"/>
              <a:t>Cadastra</a:t>
            </a:r>
          </a:p>
        </p:txBody>
      </p: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B1D6F444-3EBF-3C4B-8962-44C2C08AD182}"/>
              </a:ext>
            </a:extLst>
          </p:cNvPr>
          <p:cNvCxnSpPr>
            <a:stCxn id="8" idx="2"/>
            <a:endCxn id="46" idx="3"/>
          </p:cNvCxnSpPr>
          <p:nvPr/>
        </p:nvCxnSpPr>
        <p:spPr>
          <a:xfrm rot="5400000">
            <a:off x="9339936" y="1356513"/>
            <a:ext cx="1515034" cy="42851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25E22B61-44AB-3A26-9F09-F31F87B649E6}"/>
              </a:ext>
            </a:extLst>
          </p:cNvPr>
          <p:cNvCxnSpPr>
            <a:stCxn id="46" idx="1"/>
            <a:endCxn id="12" idx="3"/>
          </p:cNvCxnSpPr>
          <p:nvPr/>
        </p:nvCxnSpPr>
        <p:spPr>
          <a:xfrm flipH="1" flipV="1">
            <a:off x="6689125" y="2324651"/>
            <a:ext cx="735228" cy="36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53B232FD-49EE-8F29-4794-D757BADC2C68}"/>
              </a:ext>
            </a:extLst>
          </p:cNvPr>
          <p:cNvCxnSpPr>
            <a:stCxn id="64" idx="2"/>
            <a:endCxn id="74" idx="3"/>
          </p:cNvCxnSpPr>
          <p:nvPr/>
        </p:nvCxnSpPr>
        <p:spPr>
          <a:xfrm rot="5400000">
            <a:off x="8039798" y="3762737"/>
            <a:ext cx="2359410" cy="218441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6A6B5132-E99A-E54A-53BA-5F52A016C71A}"/>
              </a:ext>
            </a:extLst>
          </p:cNvPr>
          <p:cNvCxnSpPr>
            <a:stCxn id="74" idx="1"/>
            <a:endCxn id="5" idx="2"/>
          </p:cNvCxnSpPr>
          <p:nvPr/>
        </p:nvCxnSpPr>
        <p:spPr>
          <a:xfrm rot="10800000">
            <a:off x="1131984" y="2612724"/>
            <a:ext cx="2312103" cy="342192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C69AEA85-67A0-370B-631F-D082EF6994B1}"/>
              </a:ext>
            </a:extLst>
          </p:cNvPr>
          <p:cNvSpPr txBox="1"/>
          <p:nvPr/>
        </p:nvSpPr>
        <p:spPr>
          <a:xfrm>
            <a:off x="7620939" y="4350854"/>
            <a:ext cx="2065670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/>
              <a:t>Dúvidas registro</a:t>
            </a:r>
          </a:p>
          <a:p>
            <a:pPr marL="285750" indent="-285750">
              <a:buFontTx/>
              <a:buChar char="-"/>
            </a:pPr>
            <a:r>
              <a:rPr lang="pt-BR" dirty="0"/>
              <a:t>Contato origem</a:t>
            </a:r>
          </a:p>
        </p:txBody>
      </p: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56CDAD9F-694B-6488-0BBE-E6AED9D32142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653774" y="4997185"/>
            <a:ext cx="0" cy="3798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007D0390-E825-D1F9-A32D-1697AB095F64}"/>
              </a:ext>
            </a:extLst>
          </p:cNvPr>
          <p:cNvCxnSpPr>
            <a:cxnSpLocks/>
          </p:cNvCxnSpPr>
          <p:nvPr/>
        </p:nvCxnSpPr>
        <p:spPr>
          <a:xfrm flipH="1">
            <a:off x="1521221" y="5374640"/>
            <a:ext cx="71325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0BC9F993-3749-A5E5-30FA-C1184E021C94}"/>
              </a:ext>
            </a:extLst>
          </p:cNvPr>
          <p:cNvCxnSpPr>
            <a:cxnSpLocks/>
          </p:cNvCxnSpPr>
          <p:nvPr/>
        </p:nvCxnSpPr>
        <p:spPr>
          <a:xfrm flipV="1">
            <a:off x="1521221" y="2875280"/>
            <a:ext cx="0" cy="24993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E0F72B4C-8226-8C34-AF7E-07035790881B}"/>
              </a:ext>
            </a:extLst>
          </p:cNvPr>
          <p:cNvCxnSpPr>
            <a:cxnSpLocks/>
          </p:cNvCxnSpPr>
          <p:nvPr/>
        </p:nvCxnSpPr>
        <p:spPr>
          <a:xfrm>
            <a:off x="1521221" y="2872894"/>
            <a:ext cx="1917979" cy="101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7413DF55-D6A0-9C38-314E-F15A61D09006}"/>
              </a:ext>
            </a:extLst>
          </p:cNvPr>
          <p:cNvCxnSpPr>
            <a:cxnSpLocks/>
          </p:cNvCxnSpPr>
          <p:nvPr/>
        </p:nvCxnSpPr>
        <p:spPr>
          <a:xfrm flipV="1">
            <a:off x="3439200" y="2391285"/>
            <a:ext cx="0" cy="483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de Seta Reta 129">
            <a:extLst>
              <a:ext uri="{FF2B5EF4-FFF2-40B4-BE49-F238E27FC236}">
                <a16:creationId xmlns:a16="http://schemas.microsoft.com/office/drawing/2014/main" id="{0F870306-03EE-FA34-A9B9-84D70CB23CA4}"/>
              </a:ext>
            </a:extLst>
          </p:cNvPr>
          <p:cNvCxnSpPr>
            <a:cxnSpLocks/>
            <a:stCxn id="46" idx="2"/>
            <a:endCxn id="89" idx="0"/>
          </p:cNvCxnSpPr>
          <p:nvPr/>
        </p:nvCxnSpPr>
        <p:spPr>
          <a:xfrm flipH="1">
            <a:off x="8653774" y="2651452"/>
            <a:ext cx="1" cy="16994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: Angulado 131">
            <a:extLst>
              <a:ext uri="{FF2B5EF4-FFF2-40B4-BE49-F238E27FC236}">
                <a16:creationId xmlns:a16="http://schemas.microsoft.com/office/drawing/2014/main" id="{25B93EA6-F212-A730-0D0B-9DD21B464578}"/>
              </a:ext>
            </a:extLst>
          </p:cNvPr>
          <p:cNvCxnSpPr>
            <a:cxnSpLocks/>
            <a:stCxn id="64" idx="1"/>
            <a:endCxn id="89" idx="0"/>
          </p:cNvCxnSpPr>
          <p:nvPr/>
        </p:nvCxnSpPr>
        <p:spPr>
          <a:xfrm rot="10800000" flipV="1">
            <a:off x="8653775" y="3352072"/>
            <a:ext cx="780605" cy="998781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14574708-FB71-C7B2-559D-A1F40DB8E01C}"/>
              </a:ext>
            </a:extLst>
          </p:cNvPr>
          <p:cNvSpPr txBox="1"/>
          <p:nvPr/>
        </p:nvSpPr>
        <p:spPr>
          <a:xfrm>
            <a:off x="6894" y="813252"/>
            <a:ext cx="77847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VS</a:t>
            </a:r>
          </a:p>
        </p:txBody>
      </p:sp>
      <p:cxnSp>
        <p:nvCxnSpPr>
          <p:cNvPr id="135" name="Conector: Angulado 134">
            <a:extLst>
              <a:ext uri="{FF2B5EF4-FFF2-40B4-BE49-F238E27FC236}">
                <a16:creationId xmlns:a16="http://schemas.microsoft.com/office/drawing/2014/main" id="{92107C93-86D4-358D-C0F2-16E98FC4B068}"/>
              </a:ext>
            </a:extLst>
          </p:cNvPr>
          <p:cNvCxnSpPr>
            <a:stCxn id="133" idx="2"/>
            <a:endCxn id="5" idx="1"/>
          </p:cNvCxnSpPr>
          <p:nvPr/>
        </p:nvCxnSpPr>
        <p:spPr>
          <a:xfrm rot="16200000" flipH="1">
            <a:off x="108283" y="1685875"/>
            <a:ext cx="922310" cy="346613"/>
          </a:xfrm>
          <a:prstGeom prst="bentConnector2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de Seta Reta 151">
            <a:extLst>
              <a:ext uri="{FF2B5EF4-FFF2-40B4-BE49-F238E27FC236}">
                <a16:creationId xmlns:a16="http://schemas.microsoft.com/office/drawing/2014/main" id="{CF8CBBAE-E2A8-5CD0-1477-E302942B7D3B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6028039" y="2509317"/>
            <a:ext cx="0" cy="4793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>
            <a:extLst>
              <a:ext uri="{FF2B5EF4-FFF2-40B4-BE49-F238E27FC236}">
                <a16:creationId xmlns:a16="http://schemas.microsoft.com/office/drawing/2014/main" id="{2782FC44-CE1B-FAF1-FB4A-1BDF10390C0D}"/>
              </a:ext>
            </a:extLst>
          </p:cNvPr>
          <p:cNvCxnSpPr>
            <a:stCxn id="15" idx="1"/>
            <a:endCxn id="27" idx="3"/>
          </p:cNvCxnSpPr>
          <p:nvPr/>
        </p:nvCxnSpPr>
        <p:spPr>
          <a:xfrm flipH="1">
            <a:off x="4202675" y="4004328"/>
            <a:ext cx="620582" cy="10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Gráfico 160" descr="Medidor com preenchimento sólido">
            <a:extLst>
              <a:ext uri="{FF2B5EF4-FFF2-40B4-BE49-F238E27FC236}">
                <a16:creationId xmlns:a16="http://schemas.microsoft.com/office/drawing/2014/main" id="{F4363F2B-71AB-7CAB-7986-8A05EB448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310" y="6484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2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7369</TotalTime>
  <Words>409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Solução  Abordagem Veicular</vt:lpstr>
      <vt:lpstr>FUNCIONALIDADE “AGENTE DE CAMPO”</vt:lpstr>
      <vt:lpstr>USABILIDADE DO APP</vt:lpstr>
      <vt:lpstr>INTERFACE</vt:lpstr>
      <vt:lpstr>DADOS COLETADOS</vt:lpstr>
      <vt:lpstr>INTELIGÊNCIA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CRBM</dc:title>
  <dc:creator>CRBM</dc:creator>
  <cp:lastModifiedBy>Marcelo Scapin Rovani</cp:lastModifiedBy>
  <cp:revision>17</cp:revision>
  <dcterms:created xsi:type="dcterms:W3CDTF">2021-07-16T16:43:48Z</dcterms:created>
  <dcterms:modified xsi:type="dcterms:W3CDTF">2024-08-12T21:06:28Z</dcterms:modified>
</cp:coreProperties>
</file>